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notesMasterIdLst>
    <p:notesMasterId r:id="rId18"/>
  </p:notesMasterIdLst>
  <p:handoutMasterIdLst>
    <p:handoutMasterId r:id="rId19"/>
  </p:handoutMasterIdLst>
  <p:sldIdLst>
    <p:sldId id="257" r:id="rId2"/>
    <p:sldId id="261" r:id="rId3"/>
    <p:sldId id="259" r:id="rId4"/>
    <p:sldId id="260" r:id="rId5"/>
    <p:sldId id="369" r:id="rId6"/>
    <p:sldId id="370" r:id="rId7"/>
    <p:sldId id="371" r:id="rId8"/>
    <p:sldId id="344" r:id="rId9"/>
    <p:sldId id="373" r:id="rId10"/>
    <p:sldId id="374" r:id="rId11"/>
    <p:sldId id="375" r:id="rId12"/>
    <p:sldId id="376" r:id="rId13"/>
    <p:sldId id="377" r:id="rId14"/>
    <p:sldId id="378" r:id="rId15"/>
    <p:sldId id="379" r:id="rId16"/>
    <p:sldId id="299" r:id="rId17"/>
  </p:sldIdLst>
  <p:sldSz cx="12192000" cy="6858000"/>
  <p:notesSz cx="6858000" cy="9144000"/>
  <p:defaultTextStyle>
    <a:defPPr rtl="0"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ébastien Ulésie" initials="SU" lastIdx="1" clrIdx="0">
    <p:extLst>
      <p:ext uri="{19B8F6BF-5375-455C-9EA6-DF929625EA0E}">
        <p15:presenceInfo xmlns:p15="http://schemas.microsoft.com/office/powerpoint/2012/main" userId="341bc60b6eabda31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5333"/>
    <a:srgbClr val="61D0CE"/>
    <a:srgbClr val="F6A2F8"/>
    <a:srgbClr val="D9F0F0"/>
    <a:srgbClr val="996633"/>
    <a:srgbClr val="CCCC00"/>
    <a:srgbClr val="B3FFD5"/>
    <a:srgbClr val="B3E7FF"/>
    <a:srgbClr val="FAE6B8"/>
    <a:srgbClr val="2DA1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Style à thème 1 - Accentuation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1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120" d="100"/>
          <a:sy n="120" d="100"/>
        </p:scale>
        <p:origin x="5040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A0612ED-5876-4919-BCC8-600F5B229E71}" type="doc">
      <dgm:prSet loTypeId="urn:microsoft.com/office/officeart/2005/8/layout/vList2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fr-FR"/>
        </a:p>
      </dgm:t>
    </dgm:pt>
    <dgm:pt modelId="{ACF00B4C-E6D7-4CF7-AFA6-22ECB4A54A6A}">
      <dgm:prSet phldrT="[Texte]" phldr="0"/>
      <dgm:spPr/>
      <dgm:t>
        <a:bodyPr/>
        <a:lstStyle/>
        <a:p>
          <a:r>
            <a:rPr lang="fr-FR" dirty="0"/>
            <a:t>1- Contexte &amp; Objectif</a:t>
          </a:r>
        </a:p>
      </dgm:t>
    </dgm:pt>
    <dgm:pt modelId="{FDD0A571-75BF-47A0-B20D-C0A8085AC3A7}" type="parTrans" cxnId="{9B4DC1D0-0933-42AD-B402-BAE36805541F}">
      <dgm:prSet/>
      <dgm:spPr/>
      <dgm:t>
        <a:bodyPr/>
        <a:lstStyle/>
        <a:p>
          <a:endParaRPr lang="fr-FR"/>
        </a:p>
      </dgm:t>
    </dgm:pt>
    <dgm:pt modelId="{F49AE16D-0DC3-4DA7-9732-CC9EE6A681A0}" type="sibTrans" cxnId="{9B4DC1D0-0933-42AD-B402-BAE36805541F}">
      <dgm:prSet/>
      <dgm:spPr/>
      <dgm:t>
        <a:bodyPr/>
        <a:lstStyle/>
        <a:p>
          <a:endParaRPr lang="fr-FR"/>
        </a:p>
      </dgm:t>
    </dgm:pt>
    <dgm:pt modelId="{09562225-7FCE-4E93-8C05-403975C5475D}">
      <dgm:prSet phldrT="[Texte]" phldr="0"/>
      <dgm:spPr/>
      <dgm:t>
        <a:bodyPr/>
        <a:lstStyle/>
        <a:p>
          <a:r>
            <a:rPr lang="fr-FR" dirty="0"/>
            <a:t>4- Démonstration </a:t>
          </a:r>
          <a:r>
            <a:rPr lang="fr-FR" dirty="0" err="1"/>
            <a:t>Kestra</a:t>
          </a:r>
          <a:endParaRPr lang="fr-FR" dirty="0"/>
        </a:p>
      </dgm:t>
    </dgm:pt>
    <dgm:pt modelId="{0781F10D-ED0A-48FE-B536-0CE0EEFECEC3}" type="parTrans" cxnId="{F64BF8E3-3C7F-43B9-85CA-B98717DDCE52}">
      <dgm:prSet/>
      <dgm:spPr/>
      <dgm:t>
        <a:bodyPr/>
        <a:lstStyle/>
        <a:p>
          <a:endParaRPr lang="fr-FR"/>
        </a:p>
      </dgm:t>
    </dgm:pt>
    <dgm:pt modelId="{A16D4EFB-D346-4379-AC60-BC2431B43AE4}" type="sibTrans" cxnId="{F64BF8E3-3C7F-43B9-85CA-B98717DDCE52}">
      <dgm:prSet/>
      <dgm:spPr/>
      <dgm:t>
        <a:bodyPr/>
        <a:lstStyle/>
        <a:p>
          <a:endParaRPr lang="fr-FR"/>
        </a:p>
      </dgm:t>
    </dgm:pt>
    <dgm:pt modelId="{91C5EE06-7918-4F4E-ABC8-78B22D3546A2}">
      <dgm:prSet phldrT="[Texte]" phldr="0"/>
      <dgm:spPr/>
      <dgm:t>
        <a:bodyPr/>
        <a:lstStyle/>
        <a:p>
          <a:r>
            <a:rPr lang="fr-FR" dirty="0"/>
            <a:t>3- Flow </a:t>
          </a:r>
          <a:r>
            <a:rPr lang="fr-FR" dirty="0" err="1"/>
            <a:t>Kestra</a:t>
          </a:r>
          <a:endParaRPr lang="fr-FR" dirty="0"/>
        </a:p>
      </dgm:t>
    </dgm:pt>
    <dgm:pt modelId="{F8E08B12-C3B4-44EB-8CAC-1ED61F0F2D2E}" type="parTrans" cxnId="{BA2CB65B-D598-4090-8A83-B9D804C83F04}">
      <dgm:prSet/>
      <dgm:spPr/>
      <dgm:t>
        <a:bodyPr/>
        <a:lstStyle/>
        <a:p>
          <a:endParaRPr lang="fr-FR"/>
        </a:p>
      </dgm:t>
    </dgm:pt>
    <dgm:pt modelId="{E6385450-D9A5-4D9C-B992-73589E40A9D7}" type="sibTrans" cxnId="{BA2CB65B-D598-4090-8A83-B9D804C83F04}">
      <dgm:prSet/>
      <dgm:spPr/>
      <dgm:t>
        <a:bodyPr/>
        <a:lstStyle/>
        <a:p>
          <a:endParaRPr lang="fr-FR"/>
        </a:p>
      </dgm:t>
    </dgm:pt>
    <dgm:pt modelId="{137669DF-45F8-40AE-925B-B1ADA604DE22}">
      <dgm:prSet phldrT="[Texte]" phldr="0"/>
      <dgm:spPr/>
      <dgm:t>
        <a:bodyPr/>
        <a:lstStyle/>
        <a:p>
          <a:r>
            <a:rPr lang="fr-FR" b="0" dirty="0"/>
            <a:t>2- Logigramme</a:t>
          </a:r>
        </a:p>
      </dgm:t>
    </dgm:pt>
    <dgm:pt modelId="{6B54155B-5F84-497A-BFEF-EA323E20BA10}" type="parTrans" cxnId="{8D0E12F4-8B86-4A1B-98D0-2FAA70F1362B}">
      <dgm:prSet/>
      <dgm:spPr/>
      <dgm:t>
        <a:bodyPr/>
        <a:lstStyle/>
        <a:p>
          <a:endParaRPr lang="fr-FR"/>
        </a:p>
      </dgm:t>
    </dgm:pt>
    <dgm:pt modelId="{2F249443-FEF1-43B6-A7E1-9A73B0A25AE0}" type="sibTrans" cxnId="{8D0E12F4-8B86-4A1B-98D0-2FAA70F1362B}">
      <dgm:prSet/>
      <dgm:spPr/>
      <dgm:t>
        <a:bodyPr/>
        <a:lstStyle/>
        <a:p>
          <a:endParaRPr lang="fr-FR"/>
        </a:p>
      </dgm:t>
    </dgm:pt>
    <dgm:pt modelId="{BB89F849-78B2-43DF-933A-2353D297DD5D}" type="pres">
      <dgm:prSet presAssocID="{2A0612ED-5876-4919-BCC8-600F5B229E71}" presName="linear" presStyleCnt="0">
        <dgm:presLayoutVars>
          <dgm:animLvl val="lvl"/>
          <dgm:resizeHandles val="exact"/>
        </dgm:presLayoutVars>
      </dgm:prSet>
      <dgm:spPr/>
    </dgm:pt>
    <dgm:pt modelId="{BB92269C-473B-4581-93AF-AD006B94C36C}" type="pres">
      <dgm:prSet presAssocID="{ACF00B4C-E6D7-4CF7-AFA6-22ECB4A54A6A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4B66C130-72C2-4DC4-9911-87CBCB4195E5}" type="pres">
      <dgm:prSet presAssocID="{F49AE16D-0DC3-4DA7-9732-CC9EE6A681A0}" presName="spacer" presStyleCnt="0"/>
      <dgm:spPr/>
    </dgm:pt>
    <dgm:pt modelId="{90650EEF-1F9D-463E-A867-D4AB9F2E38B6}" type="pres">
      <dgm:prSet presAssocID="{137669DF-45F8-40AE-925B-B1ADA604DE22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B6F1EB67-BED4-4BFF-8AB0-2EA5A3B31FFE}" type="pres">
      <dgm:prSet presAssocID="{2F249443-FEF1-43B6-A7E1-9A73B0A25AE0}" presName="spacer" presStyleCnt="0"/>
      <dgm:spPr/>
    </dgm:pt>
    <dgm:pt modelId="{C0F2F60F-49A7-486C-BA84-7742A146D8C7}" type="pres">
      <dgm:prSet presAssocID="{91C5EE06-7918-4F4E-ABC8-78B22D3546A2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D1D8BE0-65D2-40B4-9127-53B188EBFA7A}" type="pres">
      <dgm:prSet presAssocID="{E6385450-D9A5-4D9C-B992-73589E40A9D7}" presName="spacer" presStyleCnt="0"/>
      <dgm:spPr/>
    </dgm:pt>
    <dgm:pt modelId="{188E501D-B60D-4714-8E70-1CD5D6D0CD0B}" type="pres">
      <dgm:prSet presAssocID="{09562225-7FCE-4E93-8C05-403975C5475D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72D84625-8B4D-4B3B-B34F-C7465EF419B4}" type="presOf" srcId="{09562225-7FCE-4E93-8C05-403975C5475D}" destId="{188E501D-B60D-4714-8E70-1CD5D6D0CD0B}" srcOrd="0" destOrd="0" presId="urn:microsoft.com/office/officeart/2005/8/layout/vList2"/>
    <dgm:cxn modelId="{BA2CB65B-D598-4090-8A83-B9D804C83F04}" srcId="{2A0612ED-5876-4919-BCC8-600F5B229E71}" destId="{91C5EE06-7918-4F4E-ABC8-78B22D3546A2}" srcOrd="2" destOrd="0" parTransId="{F8E08B12-C3B4-44EB-8CAC-1ED61F0F2D2E}" sibTransId="{E6385450-D9A5-4D9C-B992-73589E40A9D7}"/>
    <dgm:cxn modelId="{BB8CFB59-ECE7-4CBC-9556-8A3CF9727DDA}" type="presOf" srcId="{ACF00B4C-E6D7-4CF7-AFA6-22ECB4A54A6A}" destId="{BB92269C-473B-4581-93AF-AD006B94C36C}" srcOrd="0" destOrd="0" presId="urn:microsoft.com/office/officeart/2005/8/layout/vList2"/>
    <dgm:cxn modelId="{1FA19BB3-7E11-45B8-93CE-4B2E16B76669}" type="presOf" srcId="{2A0612ED-5876-4919-BCC8-600F5B229E71}" destId="{BB89F849-78B2-43DF-933A-2353D297DD5D}" srcOrd="0" destOrd="0" presId="urn:microsoft.com/office/officeart/2005/8/layout/vList2"/>
    <dgm:cxn modelId="{1AF982C7-C8EE-4870-AABC-FB5147AC9A32}" type="presOf" srcId="{137669DF-45F8-40AE-925B-B1ADA604DE22}" destId="{90650EEF-1F9D-463E-A867-D4AB9F2E38B6}" srcOrd="0" destOrd="0" presId="urn:microsoft.com/office/officeart/2005/8/layout/vList2"/>
    <dgm:cxn modelId="{9B4DC1D0-0933-42AD-B402-BAE36805541F}" srcId="{2A0612ED-5876-4919-BCC8-600F5B229E71}" destId="{ACF00B4C-E6D7-4CF7-AFA6-22ECB4A54A6A}" srcOrd="0" destOrd="0" parTransId="{FDD0A571-75BF-47A0-B20D-C0A8085AC3A7}" sibTransId="{F49AE16D-0DC3-4DA7-9732-CC9EE6A681A0}"/>
    <dgm:cxn modelId="{F64BF8E3-3C7F-43B9-85CA-B98717DDCE52}" srcId="{2A0612ED-5876-4919-BCC8-600F5B229E71}" destId="{09562225-7FCE-4E93-8C05-403975C5475D}" srcOrd="3" destOrd="0" parTransId="{0781F10D-ED0A-48FE-B536-0CE0EEFECEC3}" sibTransId="{A16D4EFB-D346-4379-AC60-BC2431B43AE4}"/>
    <dgm:cxn modelId="{8D0E12F4-8B86-4A1B-98D0-2FAA70F1362B}" srcId="{2A0612ED-5876-4919-BCC8-600F5B229E71}" destId="{137669DF-45F8-40AE-925B-B1ADA604DE22}" srcOrd="1" destOrd="0" parTransId="{6B54155B-5F84-497A-BFEF-EA323E20BA10}" sibTransId="{2F249443-FEF1-43B6-A7E1-9A73B0A25AE0}"/>
    <dgm:cxn modelId="{4E34AAF5-1699-46BD-92E5-02366CEB6C2B}" type="presOf" srcId="{91C5EE06-7918-4F4E-ABC8-78B22D3546A2}" destId="{C0F2F60F-49A7-486C-BA84-7742A146D8C7}" srcOrd="0" destOrd="0" presId="urn:microsoft.com/office/officeart/2005/8/layout/vList2"/>
    <dgm:cxn modelId="{32BC9673-159F-477D-812B-1E5F3FE83DAD}" type="presParOf" srcId="{BB89F849-78B2-43DF-933A-2353D297DD5D}" destId="{BB92269C-473B-4581-93AF-AD006B94C36C}" srcOrd="0" destOrd="0" presId="urn:microsoft.com/office/officeart/2005/8/layout/vList2"/>
    <dgm:cxn modelId="{A28352EE-237E-4724-8018-9BD872C31A3B}" type="presParOf" srcId="{BB89F849-78B2-43DF-933A-2353D297DD5D}" destId="{4B66C130-72C2-4DC4-9911-87CBCB4195E5}" srcOrd="1" destOrd="0" presId="urn:microsoft.com/office/officeart/2005/8/layout/vList2"/>
    <dgm:cxn modelId="{5CB68A64-ED28-4F71-8174-2BD319D43FD1}" type="presParOf" srcId="{BB89F849-78B2-43DF-933A-2353D297DD5D}" destId="{90650EEF-1F9D-463E-A867-D4AB9F2E38B6}" srcOrd="2" destOrd="0" presId="urn:microsoft.com/office/officeart/2005/8/layout/vList2"/>
    <dgm:cxn modelId="{663B79CA-AF34-42CE-ABD1-1397810ACF3B}" type="presParOf" srcId="{BB89F849-78B2-43DF-933A-2353D297DD5D}" destId="{B6F1EB67-BED4-4BFF-8AB0-2EA5A3B31FFE}" srcOrd="3" destOrd="0" presId="urn:microsoft.com/office/officeart/2005/8/layout/vList2"/>
    <dgm:cxn modelId="{42CC9DDE-BC30-4FD8-8FDD-4AFDD000929E}" type="presParOf" srcId="{BB89F849-78B2-43DF-933A-2353D297DD5D}" destId="{C0F2F60F-49A7-486C-BA84-7742A146D8C7}" srcOrd="4" destOrd="0" presId="urn:microsoft.com/office/officeart/2005/8/layout/vList2"/>
    <dgm:cxn modelId="{9BFAF73C-FF3F-4500-8FD0-55592E017415}" type="presParOf" srcId="{BB89F849-78B2-43DF-933A-2353D297DD5D}" destId="{0D1D8BE0-65D2-40B4-9127-53B188EBFA7A}" srcOrd="5" destOrd="0" presId="urn:microsoft.com/office/officeart/2005/8/layout/vList2"/>
    <dgm:cxn modelId="{722F17F9-025F-4A00-8C4F-4AD0DED9C8D9}" type="presParOf" srcId="{BB89F849-78B2-43DF-933A-2353D297DD5D}" destId="{188E501D-B60D-4714-8E70-1CD5D6D0CD0B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D05CF17-EFD1-4CB7-B633-3BFB5E6F1D40}" type="doc">
      <dgm:prSet loTypeId="urn:microsoft.com/office/officeart/2008/layout/AlternatingHexagons" loCatId="list" qsTypeId="urn:microsoft.com/office/officeart/2005/8/quickstyle/simple5" qsCatId="simple" csTypeId="urn:microsoft.com/office/officeart/2005/8/colors/colorful1" csCatId="colorful" phldr="1"/>
      <dgm:spPr/>
      <dgm:t>
        <a:bodyPr/>
        <a:lstStyle/>
        <a:p>
          <a:endParaRPr lang="fr-FR"/>
        </a:p>
      </dgm:t>
    </dgm:pt>
    <dgm:pt modelId="{637B7BD1-6FE4-4F79-B085-330B55BDE317}">
      <dgm:prSet phldrT="[Texte]"/>
      <dgm:spPr/>
      <dgm:t>
        <a:bodyPr/>
        <a:lstStyle/>
        <a:p>
          <a:pPr algn="ctr"/>
          <a:r>
            <a:rPr lang="fr-FR" b="1" dirty="0"/>
            <a:t>CONTEXTE</a:t>
          </a:r>
        </a:p>
      </dgm:t>
    </dgm:pt>
    <dgm:pt modelId="{58F8FECE-2B90-4CC8-994A-71D18C28288E}" type="parTrans" cxnId="{DE039029-7054-4681-8A74-F981C9FC437A}">
      <dgm:prSet/>
      <dgm:spPr/>
      <dgm:t>
        <a:bodyPr/>
        <a:lstStyle/>
        <a:p>
          <a:endParaRPr lang="fr-FR"/>
        </a:p>
      </dgm:t>
    </dgm:pt>
    <dgm:pt modelId="{BAAAB516-174F-4396-83ED-099C68A09F32}" type="sibTrans" cxnId="{DE039029-7054-4681-8A74-F981C9FC437A}">
      <dgm:prSet/>
      <dgm:spPr>
        <a:solidFill>
          <a:srgbClr val="FFC000"/>
        </a:solidFill>
      </dgm:spPr>
      <dgm:t>
        <a:bodyPr/>
        <a:lstStyle/>
        <a:p>
          <a:endParaRPr lang="fr-FR"/>
        </a:p>
      </dgm:t>
    </dgm:pt>
    <dgm:pt modelId="{AC29BA73-9A8E-4DD8-9338-B4E11418CE49}">
      <dgm:prSet phldrT="[Texte]" phldr="0"/>
      <dgm:spPr>
        <a:solidFill>
          <a:srgbClr val="00B050"/>
        </a:solidFill>
      </dgm:spPr>
      <dgm:t>
        <a:bodyPr/>
        <a:lstStyle/>
        <a:p>
          <a:pPr algn="ctr"/>
          <a:r>
            <a:rPr lang="fr-FR" b="1" dirty="0"/>
            <a:t>OBJECTIF</a:t>
          </a:r>
        </a:p>
      </dgm:t>
    </dgm:pt>
    <dgm:pt modelId="{0A28FCE7-3469-46D1-A8A0-DD116B553255}" type="parTrans" cxnId="{49E9F931-B205-4748-BCDB-FF1BB41F94FE}">
      <dgm:prSet/>
      <dgm:spPr/>
      <dgm:t>
        <a:bodyPr/>
        <a:lstStyle/>
        <a:p>
          <a:endParaRPr lang="fr-FR"/>
        </a:p>
      </dgm:t>
    </dgm:pt>
    <dgm:pt modelId="{536F5F02-EADD-4809-AD98-9B2EB9A00C9A}" type="sibTrans" cxnId="{49E9F931-B205-4748-BCDB-FF1BB41F94FE}">
      <dgm:prSet/>
      <dgm:spPr>
        <a:solidFill>
          <a:srgbClr val="FF9900"/>
        </a:solidFill>
      </dgm:spPr>
      <dgm:t>
        <a:bodyPr/>
        <a:lstStyle/>
        <a:p>
          <a:endParaRPr lang="fr-FR"/>
        </a:p>
      </dgm:t>
    </dgm:pt>
    <dgm:pt modelId="{DDD1A813-A5E6-4960-B20A-DEC5A896AAA8}">
      <dgm:prSet phldrT="[Texte]" custT="1"/>
      <dgm:spPr/>
      <dgm:t>
        <a:bodyPr/>
        <a:lstStyle/>
        <a:p>
          <a:pPr algn="l"/>
          <a:r>
            <a:rPr lang="fr-FR" sz="16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Franklin Gothic Book" panose="020B0502020104020203"/>
              <a:ea typeface="+mn-ea"/>
              <a:cs typeface="+mn-cs"/>
            </a:rPr>
            <a:t>Stéphane de l’entreprise </a:t>
          </a:r>
          <a:r>
            <a:rPr lang="fr-FR" sz="1600" b="1" kern="1200" dirty="0" err="1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Franklin Gothic Book" panose="020B0502020104020203"/>
              <a:ea typeface="+mn-ea"/>
              <a:cs typeface="+mn-cs"/>
            </a:rPr>
            <a:t>Bottleneck</a:t>
          </a:r>
          <a:r>
            <a:rPr lang="fr-FR" sz="16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Franklin Gothic Book" panose="020B0502020104020203"/>
              <a:ea typeface="+mn-ea"/>
              <a:cs typeface="+mn-cs"/>
            </a:rPr>
            <a:t> a réalisé des analyses des données de l’entreprise sous 3 axes: nettoyage des données du CMS et ERP, réconciliation des données pour calculer le chiffre d’affaires, identification des vins premium</a:t>
          </a:r>
        </a:p>
      </dgm:t>
    </dgm:pt>
    <dgm:pt modelId="{78552606-3A5A-44B2-A4F5-0D90125EC683}" type="parTrans" cxnId="{BE3AAC36-17EF-4FEF-B583-A73D20B3390A}">
      <dgm:prSet/>
      <dgm:spPr/>
      <dgm:t>
        <a:bodyPr/>
        <a:lstStyle/>
        <a:p>
          <a:endParaRPr lang="fr-FR"/>
        </a:p>
      </dgm:t>
    </dgm:pt>
    <dgm:pt modelId="{76993FA3-4444-4186-8121-5D37EFD900AC}" type="sibTrans" cxnId="{BE3AAC36-17EF-4FEF-B583-A73D20B3390A}">
      <dgm:prSet/>
      <dgm:spPr/>
      <dgm:t>
        <a:bodyPr/>
        <a:lstStyle/>
        <a:p>
          <a:endParaRPr lang="fr-FR"/>
        </a:p>
      </dgm:t>
    </dgm:pt>
    <dgm:pt modelId="{CFF3B573-BAC6-426A-BDAA-76B161A76E5A}">
      <dgm:prSet phldrT="[Texte]" phldr="0"/>
      <dgm:spPr/>
      <dgm:t>
        <a:bodyPr/>
        <a:lstStyle/>
        <a:p>
          <a:pPr algn="l"/>
          <a:r>
            <a:rPr lang="fr-FR" b="1" dirty="0" err="1"/>
            <a:t>Atomatiser</a:t>
          </a:r>
          <a:r>
            <a:rPr lang="fr-FR" b="1" dirty="0"/>
            <a:t> cette chaîne de traitement et d’analyse de données</a:t>
          </a:r>
        </a:p>
      </dgm:t>
    </dgm:pt>
    <dgm:pt modelId="{F9B79AD1-50FF-414D-81B9-1B2CD8ABBD6E}" type="parTrans" cxnId="{E2D4328E-E76D-400A-B9C5-C1B03247293D}">
      <dgm:prSet/>
      <dgm:spPr/>
      <dgm:t>
        <a:bodyPr/>
        <a:lstStyle/>
        <a:p>
          <a:endParaRPr lang="fr-FR"/>
        </a:p>
      </dgm:t>
    </dgm:pt>
    <dgm:pt modelId="{7CCFC6D4-D5BB-46DE-B5DF-430E1A748403}" type="sibTrans" cxnId="{E2D4328E-E76D-400A-B9C5-C1B03247293D}">
      <dgm:prSet/>
      <dgm:spPr/>
      <dgm:t>
        <a:bodyPr/>
        <a:lstStyle/>
        <a:p>
          <a:endParaRPr lang="fr-FR"/>
        </a:p>
      </dgm:t>
    </dgm:pt>
    <dgm:pt modelId="{70E376D1-A4CD-42B5-93F4-3F937F8760F9}" type="pres">
      <dgm:prSet presAssocID="{8D05CF17-EFD1-4CB7-B633-3BFB5E6F1D40}" presName="Name0" presStyleCnt="0">
        <dgm:presLayoutVars>
          <dgm:chMax/>
          <dgm:chPref/>
          <dgm:dir/>
          <dgm:animLvl val="lvl"/>
        </dgm:presLayoutVars>
      </dgm:prSet>
      <dgm:spPr/>
    </dgm:pt>
    <dgm:pt modelId="{DAB1C598-7380-4205-A199-304DB9D9AA18}" type="pres">
      <dgm:prSet presAssocID="{637B7BD1-6FE4-4F79-B085-330B55BDE317}" presName="composite" presStyleCnt="0"/>
      <dgm:spPr/>
    </dgm:pt>
    <dgm:pt modelId="{56A13A4E-84D7-4D91-BEDB-90F24C5C496A}" type="pres">
      <dgm:prSet presAssocID="{637B7BD1-6FE4-4F79-B085-330B55BDE317}" presName="Parent1" presStyleLbl="node1" presStyleIdx="0" presStyleCnt="4">
        <dgm:presLayoutVars>
          <dgm:chMax val="1"/>
          <dgm:chPref val="1"/>
          <dgm:bulletEnabled val="1"/>
        </dgm:presLayoutVars>
      </dgm:prSet>
      <dgm:spPr/>
    </dgm:pt>
    <dgm:pt modelId="{9B056C53-7419-4F9C-91E4-BA19F0141D87}" type="pres">
      <dgm:prSet presAssocID="{637B7BD1-6FE4-4F79-B085-330B55BDE317}" presName="Childtext1" presStyleLbl="revTx" presStyleIdx="0" presStyleCnt="2">
        <dgm:presLayoutVars>
          <dgm:chMax val="0"/>
          <dgm:chPref val="0"/>
          <dgm:bulletEnabled val="1"/>
        </dgm:presLayoutVars>
      </dgm:prSet>
      <dgm:spPr/>
    </dgm:pt>
    <dgm:pt modelId="{6F53C1AC-6895-430E-BA0D-360B017D4D9E}" type="pres">
      <dgm:prSet presAssocID="{637B7BD1-6FE4-4F79-B085-330B55BDE317}" presName="BalanceSpacing" presStyleCnt="0"/>
      <dgm:spPr/>
    </dgm:pt>
    <dgm:pt modelId="{EDA89EB7-457B-4BA5-82D3-E999EDF663ED}" type="pres">
      <dgm:prSet presAssocID="{637B7BD1-6FE4-4F79-B085-330B55BDE317}" presName="BalanceSpacing1" presStyleCnt="0"/>
      <dgm:spPr/>
    </dgm:pt>
    <dgm:pt modelId="{6999D6AC-DDB9-4FD7-AFBB-DD7E27F8F5BE}" type="pres">
      <dgm:prSet presAssocID="{BAAAB516-174F-4396-83ED-099C68A09F32}" presName="Accent1Text" presStyleLbl="node1" presStyleIdx="1" presStyleCnt="4"/>
      <dgm:spPr/>
    </dgm:pt>
    <dgm:pt modelId="{12C40042-6A22-4C0C-8624-51D90A259334}" type="pres">
      <dgm:prSet presAssocID="{BAAAB516-174F-4396-83ED-099C68A09F32}" presName="spaceBetweenRectangles" presStyleCnt="0"/>
      <dgm:spPr/>
    </dgm:pt>
    <dgm:pt modelId="{E18AD5E0-511D-4DD1-9F6C-A3FEB4015259}" type="pres">
      <dgm:prSet presAssocID="{AC29BA73-9A8E-4DD8-9338-B4E11418CE49}" presName="composite" presStyleCnt="0"/>
      <dgm:spPr/>
    </dgm:pt>
    <dgm:pt modelId="{DC18BF4A-2A0F-46C3-B95A-6DD9B50BD378}" type="pres">
      <dgm:prSet presAssocID="{AC29BA73-9A8E-4DD8-9338-B4E11418CE49}" presName="Parent1" presStyleLbl="node1" presStyleIdx="2" presStyleCnt="4">
        <dgm:presLayoutVars>
          <dgm:chMax val="1"/>
          <dgm:chPref val="1"/>
          <dgm:bulletEnabled val="1"/>
        </dgm:presLayoutVars>
      </dgm:prSet>
      <dgm:spPr/>
    </dgm:pt>
    <dgm:pt modelId="{1248949E-B79E-4EED-9628-C52D6386C977}" type="pres">
      <dgm:prSet presAssocID="{AC29BA73-9A8E-4DD8-9338-B4E11418CE49}" presName="Childtext1" presStyleLbl="revTx" presStyleIdx="1" presStyleCnt="2">
        <dgm:presLayoutVars>
          <dgm:chMax val="0"/>
          <dgm:chPref val="0"/>
          <dgm:bulletEnabled val="1"/>
        </dgm:presLayoutVars>
      </dgm:prSet>
      <dgm:spPr/>
    </dgm:pt>
    <dgm:pt modelId="{04B8B441-F20F-4D86-A38D-6BFFF682C23B}" type="pres">
      <dgm:prSet presAssocID="{AC29BA73-9A8E-4DD8-9338-B4E11418CE49}" presName="BalanceSpacing" presStyleCnt="0"/>
      <dgm:spPr/>
    </dgm:pt>
    <dgm:pt modelId="{DFF4F660-0F2C-47B9-9BDF-2EA18224B174}" type="pres">
      <dgm:prSet presAssocID="{AC29BA73-9A8E-4DD8-9338-B4E11418CE49}" presName="BalanceSpacing1" presStyleCnt="0"/>
      <dgm:spPr/>
    </dgm:pt>
    <dgm:pt modelId="{50931873-200F-47FE-9D6F-FC2A93EFCE66}" type="pres">
      <dgm:prSet presAssocID="{536F5F02-EADD-4809-AD98-9B2EB9A00C9A}" presName="Accent1Text" presStyleLbl="node1" presStyleIdx="3" presStyleCnt="4"/>
      <dgm:spPr/>
    </dgm:pt>
  </dgm:ptLst>
  <dgm:cxnLst>
    <dgm:cxn modelId="{DC623A0E-398D-42CD-B596-7E8E6292A830}" type="presOf" srcId="{DDD1A813-A5E6-4960-B20A-DEC5A896AAA8}" destId="{9B056C53-7419-4F9C-91E4-BA19F0141D87}" srcOrd="0" destOrd="0" presId="urn:microsoft.com/office/officeart/2008/layout/AlternatingHexagons"/>
    <dgm:cxn modelId="{DE039029-7054-4681-8A74-F981C9FC437A}" srcId="{8D05CF17-EFD1-4CB7-B633-3BFB5E6F1D40}" destId="{637B7BD1-6FE4-4F79-B085-330B55BDE317}" srcOrd="0" destOrd="0" parTransId="{58F8FECE-2B90-4CC8-994A-71D18C28288E}" sibTransId="{BAAAB516-174F-4396-83ED-099C68A09F32}"/>
    <dgm:cxn modelId="{49E9F931-B205-4748-BCDB-FF1BB41F94FE}" srcId="{8D05CF17-EFD1-4CB7-B633-3BFB5E6F1D40}" destId="{AC29BA73-9A8E-4DD8-9338-B4E11418CE49}" srcOrd="1" destOrd="0" parTransId="{0A28FCE7-3469-46D1-A8A0-DD116B553255}" sibTransId="{536F5F02-EADD-4809-AD98-9B2EB9A00C9A}"/>
    <dgm:cxn modelId="{BE3AAC36-17EF-4FEF-B583-A73D20B3390A}" srcId="{637B7BD1-6FE4-4F79-B085-330B55BDE317}" destId="{DDD1A813-A5E6-4960-B20A-DEC5A896AAA8}" srcOrd="0" destOrd="0" parTransId="{78552606-3A5A-44B2-A4F5-0D90125EC683}" sibTransId="{76993FA3-4444-4186-8121-5D37EFD900AC}"/>
    <dgm:cxn modelId="{D0B4197E-38F3-4303-8784-0C02C3140386}" type="presOf" srcId="{536F5F02-EADD-4809-AD98-9B2EB9A00C9A}" destId="{50931873-200F-47FE-9D6F-FC2A93EFCE66}" srcOrd="0" destOrd="0" presId="urn:microsoft.com/office/officeart/2008/layout/AlternatingHexagons"/>
    <dgm:cxn modelId="{E2D4328E-E76D-400A-B9C5-C1B03247293D}" srcId="{AC29BA73-9A8E-4DD8-9338-B4E11418CE49}" destId="{CFF3B573-BAC6-426A-BDAA-76B161A76E5A}" srcOrd="0" destOrd="0" parTransId="{F9B79AD1-50FF-414D-81B9-1B2CD8ABBD6E}" sibTransId="{7CCFC6D4-D5BB-46DE-B5DF-430E1A748403}"/>
    <dgm:cxn modelId="{C77D5FBE-FA3C-4F5D-A191-76D54E9BC433}" type="presOf" srcId="{8D05CF17-EFD1-4CB7-B633-3BFB5E6F1D40}" destId="{70E376D1-A4CD-42B5-93F4-3F937F8760F9}" srcOrd="0" destOrd="0" presId="urn:microsoft.com/office/officeart/2008/layout/AlternatingHexagons"/>
    <dgm:cxn modelId="{D09DC1D5-0FBB-42FC-ADB6-D55D62E31B30}" type="presOf" srcId="{CFF3B573-BAC6-426A-BDAA-76B161A76E5A}" destId="{1248949E-B79E-4EED-9628-C52D6386C977}" srcOrd="0" destOrd="0" presId="urn:microsoft.com/office/officeart/2008/layout/AlternatingHexagons"/>
    <dgm:cxn modelId="{503D3EF4-7711-4570-B979-4C2F3FCCD613}" type="presOf" srcId="{BAAAB516-174F-4396-83ED-099C68A09F32}" destId="{6999D6AC-DDB9-4FD7-AFBB-DD7E27F8F5BE}" srcOrd="0" destOrd="0" presId="urn:microsoft.com/office/officeart/2008/layout/AlternatingHexagons"/>
    <dgm:cxn modelId="{91F6B2FF-BFC6-4DBE-AEF5-D9B36F7F5950}" type="presOf" srcId="{637B7BD1-6FE4-4F79-B085-330B55BDE317}" destId="{56A13A4E-84D7-4D91-BEDB-90F24C5C496A}" srcOrd="0" destOrd="0" presId="urn:microsoft.com/office/officeart/2008/layout/AlternatingHexagons"/>
    <dgm:cxn modelId="{14DBFBFF-624D-4700-AD81-7FBDA7141C78}" type="presOf" srcId="{AC29BA73-9A8E-4DD8-9338-B4E11418CE49}" destId="{DC18BF4A-2A0F-46C3-B95A-6DD9B50BD378}" srcOrd="0" destOrd="0" presId="urn:microsoft.com/office/officeart/2008/layout/AlternatingHexagons"/>
    <dgm:cxn modelId="{0E6669B4-3C05-48BC-A166-2D79458D7DA4}" type="presParOf" srcId="{70E376D1-A4CD-42B5-93F4-3F937F8760F9}" destId="{DAB1C598-7380-4205-A199-304DB9D9AA18}" srcOrd="0" destOrd="0" presId="urn:microsoft.com/office/officeart/2008/layout/AlternatingHexagons"/>
    <dgm:cxn modelId="{9A12199C-B1C9-4AC1-8883-0EF640B172BF}" type="presParOf" srcId="{DAB1C598-7380-4205-A199-304DB9D9AA18}" destId="{56A13A4E-84D7-4D91-BEDB-90F24C5C496A}" srcOrd="0" destOrd="0" presId="urn:microsoft.com/office/officeart/2008/layout/AlternatingHexagons"/>
    <dgm:cxn modelId="{22B74AE0-75F9-4FD2-8BF3-B9A7DA0E0F6F}" type="presParOf" srcId="{DAB1C598-7380-4205-A199-304DB9D9AA18}" destId="{9B056C53-7419-4F9C-91E4-BA19F0141D87}" srcOrd="1" destOrd="0" presId="urn:microsoft.com/office/officeart/2008/layout/AlternatingHexagons"/>
    <dgm:cxn modelId="{FD829948-16CB-49E9-9A04-F11162A84B62}" type="presParOf" srcId="{DAB1C598-7380-4205-A199-304DB9D9AA18}" destId="{6F53C1AC-6895-430E-BA0D-360B017D4D9E}" srcOrd="2" destOrd="0" presId="urn:microsoft.com/office/officeart/2008/layout/AlternatingHexagons"/>
    <dgm:cxn modelId="{F61CFB38-A64A-4445-AA0A-0CC7AA08792D}" type="presParOf" srcId="{DAB1C598-7380-4205-A199-304DB9D9AA18}" destId="{EDA89EB7-457B-4BA5-82D3-E999EDF663ED}" srcOrd="3" destOrd="0" presId="urn:microsoft.com/office/officeart/2008/layout/AlternatingHexagons"/>
    <dgm:cxn modelId="{A0C28BE9-3495-4121-833D-21DC062C9D6C}" type="presParOf" srcId="{DAB1C598-7380-4205-A199-304DB9D9AA18}" destId="{6999D6AC-DDB9-4FD7-AFBB-DD7E27F8F5BE}" srcOrd="4" destOrd="0" presId="urn:microsoft.com/office/officeart/2008/layout/AlternatingHexagons"/>
    <dgm:cxn modelId="{79259858-C7AE-42B5-8EFB-CD3C1697AA9E}" type="presParOf" srcId="{70E376D1-A4CD-42B5-93F4-3F937F8760F9}" destId="{12C40042-6A22-4C0C-8624-51D90A259334}" srcOrd="1" destOrd="0" presId="urn:microsoft.com/office/officeart/2008/layout/AlternatingHexagons"/>
    <dgm:cxn modelId="{8E11024F-AD1D-41E1-A907-6A80C35C9BF0}" type="presParOf" srcId="{70E376D1-A4CD-42B5-93F4-3F937F8760F9}" destId="{E18AD5E0-511D-4DD1-9F6C-A3FEB4015259}" srcOrd="2" destOrd="0" presId="urn:microsoft.com/office/officeart/2008/layout/AlternatingHexagons"/>
    <dgm:cxn modelId="{0A7C8B23-2275-4A7B-8F9D-C13655D6F0CF}" type="presParOf" srcId="{E18AD5E0-511D-4DD1-9F6C-A3FEB4015259}" destId="{DC18BF4A-2A0F-46C3-B95A-6DD9B50BD378}" srcOrd="0" destOrd="0" presId="urn:microsoft.com/office/officeart/2008/layout/AlternatingHexagons"/>
    <dgm:cxn modelId="{3E688AF3-8FE0-4E88-B67B-C656EEADC0E7}" type="presParOf" srcId="{E18AD5E0-511D-4DD1-9F6C-A3FEB4015259}" destId="{1248949E-B79E-4EED-9628-C52D6386C977}" srcOrd="1" destOrd="0" presId="urn:microsoft.com/office/officeart/2008/layout/AlternatingHexagons"/>
    <dgm:cxn modelId="{22FE1075-5BFB-461D-8167-A87972DDC0C4}" type="presParOf" srcId="{E18AD5E0-511D-4DD1-9F6C-A3FEB4015259}" destId="{04B8B441-F20F-4D86-A38D-6BFFF682C23B}" srcOrd="2" destOrd="0" presId="urn:microsoft.com/office/officeart/2008/layout/AlternatingHexagons"/>
    <dgm:cxn modelId="{313F630A-6343-46BC-BE06-2F90BC97D0FB}" type="presParOf" srcId="{E18AD5E0-511D-4DD1-9F6C-A3FEB4015259}" destId="{DFF4F660-0F2C-47B9-9BDF-2EA18224B174}" srcOrd="3" destOrd="0" presId="urn:microsoft.com/office/officeart/2008/layout/AlternatingHexagons"/>
    <dgm:cxn modelId="{455D0DEA-5E93-4BB9-B426-06DF78477668}" type="presParOf" srcId="{E18AD5E0-511D-4DD1-9F6C-A3FEB4015259}" destId="{50931873-200F-47FE-9D6F-FC2A93EFCE66}" srcOrd="4" destOrd="0" presId="urn:microsoft.com/office/officeart/2008/layout/AlternatingHexagon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92269C-473B-4581-93AF-AD006B94C36C}">
      <dsp:nvSpPr>
        <dsp:cNvPr id="0" name=""/>
        <dsp:cNvSpPr/>
      </dsp:nvSpPr>
      <dsp:spPr>
        <a:xfrm>
          <a:off x="0" y="4014"/>
          <a:ext cx="11348215" cy="109511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4800" kern="1200" dirty="0"/>
            <a:t>1- Contexte &amp; Objectif</a:t>
          </a:r>
        </a:p>
      </dsp:txBody>
      <dsp:txXfrm>
        <a:off x="53459" y="57473"/>
        <a:ext cx="11241297" cy="988201"/>
      </dsp:txXfrm>
    </dsp:sp>
    <dsp:sp modelId="{90650EEF-1F9D-463E-A867-D4AB9F2E38B6}">
      <dsp:nvSpPr>
        <dsp:cNvPr id="0" name=""/>
        <dsp:cNvSpPr/>
      </dsp:nvSpPr>
      <dsp:spPr>
        <a:xfrm>
          <a:off x="0" y="1237374"/>
          <a:ext cx="11348215" cy="1095119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4800" b="0" kern="1200" dirty="0"/>
            <a:t>2- Logigramme</a:t>
          </a:r>
        </a:p>
      </dsp:txBody>
      <dsp:txXfrm>
        <a:off x="53459" y="1290833"/>
        <a:ext cx="11241297" cy="988201"/>
      </dsp:txXfrm>
    </dsp:sp>
    <dsp:sp modelId="{C0F2F60F-49A7-486C-BA84-7742A146D8C7}">
      <dsp:nvSpPr>
        <dsp:cNvPr id="0" name=""/>
        <dsp:cNvSpPr/>
      </dsp:nvSpPr>
      <dsp:spPr>
        <a:xfrm>
          <a:off x="0" y="2470734"/>
          <a:ext cx="11348215" cy="1095119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4800" kern="1200" dirty="0"/>
            <a:t>3- Flow </a:t>
          </a:r>
          <a:r>
            <a:rPr lang="fr-FR" sz="4800" kern="1200" dirty="0" err="1"/>
            <a:t>Kestra</a:t>
          </a:r>
          <a:endParaRPr lang="fr-FR" sz="4800" kern="1200" dirty="0"/>
        </a:p>
      </dsp:txBody>
      <dsp:txXfrm>
        <a:off x="53459" y="2524193"/>
        <a:ext cx="11241297" cy="988201"/>
      </dsp:txXfrm>
    </dsp:sp>
    <dsp:sp modelId="{188E501D-B60D-4714-8E70-1CD5D6D0CD0B}">
      <dsp:nvSpPr>
        <dsp:cNvPr id="0" name=""/>
        <dsp:cNvSpPr/>
      </dsp:nvSpPr>
      <dsp:spPr>
        <a:xfrm>
          <a:off x="0" y="3704094"/>
          <a:ext cx="11348215" cy="1095119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4800" kern="1200" dirty="0"/>
            <a:t>4- Démonstration </a:t>
          </a:r>
          <a:r>
            <a:rPr lang="fr-FR" sz="4800" kern="1200" dirty="0" err="1"/>
            <a:t>Kestra</a:t>
          </a:r>
          <a:endParaRPr lang="fr-FR" sz="4800" kern="1200" dirty="0"/>
        </a:p>
      </dsp:txBody>
      <dsp:txXfrm>
        <a:off x="53459" y="3757553"/>
        <a:ext cx="11241297" cy="98820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A13A4E-84D7-4D91-BEDB-90F24C5C496A}">
      <dsp:nvSpPr>
        <dsp:cNvPr id="0" name=""/>
        <dsp:cNvSpPr/>
      </dsp:nvSpPr>
      <dsp:spPr>
        <a:xfrm rot="5400000">
          <a:off x="4020074" y="1229516"/>
          <a:ext cx="2637221" cy="2294382"/>
        </a:xfrm>
        <a:prstGeom prst="hexagon">
          <a:avLst>
            <a:gd name="adj" fmla="val 25000"/>
            <a:gd name="vf" fmla="val 11547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88900" dist="38100" dir="5040000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l">
            <a:rot lat="0" lon="0" rev="1200000"/>
          </a:lightRig>
        </a:scene3d>
        <a:sp3d>
          <a:bevelT w="38100" h="508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b="1" kern="1200" dirty="0"/>
            <a:t>CONTEXTE</a:t>
          </a:r>
        </a:p>
      </dsp:txBody>
      <dsp:txXfrm rot="-5400000">
        <a:off x="4549034" y="1469064"/>
        <a:ext cx="1579300" cy="1815287"/>
      </dsp:txXfrm>
    </dsp:sp>
    <dsp:sp modelId="{9B056C53-7419-4F9C-91E4-BA19F0141D87}">
      <dsp:nvSpPr>
        <dsp:cNvPr id="0" name=""/>
        <dsp:cNvSpPr/>
      </dsp:nvSpPr>
      <dsp:spPr>
        <a:xfrm>
          <a:off x="6555499" y="1585541"/>
          <a:ext cx="2943139" cy="15823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Franklin Gothic Book" panose="020B0502020104020203"/>
              <a:ea typeface="+mn-ea"/>
              <a:cs typeface="+mn-cs"/>
            </a:rPr>
            <a:t>Stéphane de l’entreprise </a:t>
          </a:r>
          <a:r>
            <a:rPr lang="fr-FR" sz="1600" b="1" kern="1200" dirty="0" err="1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Franklin Gothic Book" panose="020B0502020104020203"/>
              <a:ea typeface="+mn-ea"/>
              <a:cs typeface="+mn-cs"/>
            </a:rPr>
            <a:t>Bottleneck</a:t>
          </a:r>
          <a:r>
            <a:rPr lang="fr-FR" sz="16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Franklin Gothic Book" panose="020B0502020104020203"/>
              <a:ea typeface="+mn-ea"/>
              <a:cs typeface="+mn-cs"/>
            </a:rPr>
            <a:t> a réalisé des analyses des données de l’entreprise sous 3 axes: nettoyage des données du CMS et ERP, réconciliation des données pour calculer le chiffre d’affaires, identification des vins premium</a:t>
          </a:r>
        </a:p>
      </dsp:txBody>
      <dsp:txXfrm>
        <a:off x="6555499" y="1585541"/>
        <a:ext cx="2943139" cy="1582333"/>
      </dsp:txXfrm>
    </dsp:sp>
    <dsp:sp modelId="{6999D6AC-DDB9-4FD7-AFBB-DD7E27F8F5BE}">
      <dsp:nvSpPr>
        <dsp:cNvPr id="0" name=""/>
        <dsp:cNvSpPr/>
      </dsp:nvSpPr>
      <dsp:spPr>
        <a:xfrm rot="5400000">
          <a:off x="1542140" y="1229516"/>
          <a:ext cx="2637221" cy="2294382"/>
        </a:xfrm>
        <a:prstGeom prst="hexagon">
          <a:avLst>
            <a:gd name="adj" fmla="val 25000"/>
            <a:gd name="vf" fmla="val 115470"/>
          </a:avLst>
        </a:prstGeom>
        <a:solidFill>
          <a:srgbClr val="FFC000"/>
        </a:solidFill>
        <a:ln>
          <a:noFill/>
        </a:ln>
        <a:effectLst>
          <a:outerShdw blurRad="88900" dist="38100" dir="5040000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l">
            <a:rot lat="0" lon="0" rev="1200000"/>
          </a:lightRig>
        </a:scene3d>
        <a:sp3d>
          <a:bevelT w="38100" h="508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3600" kern="1200"/>
        </a:p>
      </dsp:txBody>
      <dsp:txXfrm rot="-5400000">
        <a:off x="2071100" y="1469064"/>
        <a:ext cx="1579300" cy="1815287"/>
      </dsp:txXfrm>
    </dsp:sp>
    <dsp:sp modelId="{DC18BF4A-2A0F-46C3-B95A-6DD9B50BD378}">
      <dsp:nvSpPr>
        <dsp:cNvPr id="0" name=""/>
        <dsp:cNvSpPr/>
      </dsp:nvSpPr>
      <dsp:spPr>
        <a:xfrm rot="5400000">
          <a:off x="2776360" y="3467989"/>
          <a:ext cx="2637221" cy="2294382"/>
        </a:xfrm>
        <a:prstGeom prst="hexagon">
          <a:avLst>
            <a:gd name="adj" fmla="val 25000"/>
            <a:gd name="vf" fmla="val 115470"/>
          </a:avLst>
        </a:prstGeom>
        <a:solidFill>
          <a:srgbClr val="00B050"/>
        </a:solidFill>
        <a:ln>
          <a:noFill/>
        </a:ln>
        <a:effectLst>
          <a:outerShdw blurRad="88900" dist="38100" dir="5040000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l">
            <a:rot lat="0" lon="0" rev="1200000"/>
          </a:lightRig>
        </a:scene3d>
        <a:sp3d>
          <a:bevelT w="38100" h="508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b="1" kern="1200" dirty="0"/>
            <a:t>OBJECTIF</a:t>
          </a:r>
        </a:p>
      </dsp:txBody>
      <dsp:txXfrm rot="-5400000">
        <a:off x="3305320" y="3707537"/>
        <a:ext cx="1579300" cy="1815287"/>
      </dsp:txXfrm>
    </dsp:sp>
    <dsp:sp modelId="{1248949E-B79E-4EED-9628-C52D6386C977}">
      <dsp:nvSpPr>
        <dsp:cNvPr id="0" name=""/>
        <dsp:cNvSpPr/>
      </dsp:nvSpPr>
      <dsp:spPr>
        <a:xfrm>
          <a:off x="4640" y="3824014"/>
          <a:ext cx="2848199" cy="15823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300" b="1" kern="1200" dirty="0" err="1"/>
            <a:t>Atomatiser</a:t>
          </a:r>
          <a:r>
            <a:rPr lang="fr-FR" sz="2300" b="1" kern="1200" dirty="0"/>
            <a:t> cette chaîne de traitement et d’analyse de données</a:t>
          </a:r>
        </a:p>
      </dsp:txBody>
      <dsp:txXfrm>
        <a:off x="4640" y="3824014"/>
        <a:ext cx="2848199" cy="1582333"/>
      </dsp:txXfrm>
    </dsp:sp>
    <dsp:sp modelId="{50931873-200F-47FE-9D6F-FC2A93EFCE66}">
      <dsp:nvSpPr>
        <dsp:cNvPr id="0" name=""/>
        <dsp:cNvSpPr/>
      </dsp:nvSpPr>
      <dsp:spPr>
        <a:xfrm rot="5400000">
          <a:off x="5254293" y="3467989"/>
          <a:ext cx="2637221" cy="2294382"/>
        </a:xfrm>
        <a:prstGeom prst="hexagon">
          <a:avLst>
            <a:gd name="adj" fmla="val 25000"/>
            <a:gd name="vf" fmla="val 115470"/>
          </a:avLst>
        </a:prstGeom>
        <a:solidFill>
          <a:srgbClr val="FF9900"/>
        </a:solidFill>
        <a:ln>
          <a:noFill/>
        </a:ln>
        <a:effectLst>
          <a:outerShdw blurRad="88900" dist="38100" dir="5040000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l">
            <a:rot lat="0" lon="0" rev="1200000"/>
          </a:lightRig>
        </a:scene3d>
        <a:sp3d>
          <a:bevelT w="38100" h="508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3600" kern="1200"/>
        </a:p>
      </dsp:txBody>
      <dsp:txXfrm rot="-5400000">
        <a:off x="5783253" y="3707537"/>
        <a:ext cx="1579300" cy="181528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AlternatingHexagons">
  <dgm:title val=""/>
  <dgm:desc val=""/>
  <dgm:catLst>
    <dgm:cat type="list" pri="1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chMax/>
      <dgm:chPref/>
      <dgm:dir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primFontSz" for="des" forName="Parent1" val="65"/>
      <dgm:constr type="primFontSz" for="des" forName="Childtext1" refType="primFontSz" refFor="des" refForName="Parent1" op="lte"/>
      <dgm:constr type="w" for="ch" forName="composite" refType="w"/>
      <dgm:constr type="h" for="ch" forName="composite" refType="h"/>
      <dgm:constr type="h" for="ch" forName="spaceBetweenRectangles" refType="w" refFor="ch" refForName="composite" fact="-0.042"/>
      <dgm:constr type="sp" refType="h" refFor="ch" refForName="composite" op="equ" fact="0.1"/>
    </dgm:constrLst>
    <dgm:forEach name="nodesForEach" axis="ch" ptType="node">
      <dgm:layoutNode name="composite">
        <dgm:alg type="composite">
          <dgm:param type="ar" val="3.6"/>
        </dgm:alg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hoose name="Name3">
              <dgm:if name="Name4" axis="self" ptType="node" func="posOdd" op="equ" val="1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/>
                  <dgm:constr type="h" for="ch" forName="BalanceSpacing" refType="h" fact="0.1"/>
                  <dgm:constr type="l" for="ch" forName="BalanceSpacing1" refType="w" fact="0.69"/>
                  <dgm:constr type="t" for="ch" forName="BalanceSpacing1" refType="h" fact="0.2"/>
                  <dgm:constr type="w" for="ch" forName="BalanceSpacing1" refType="w" fact="0.31"/>
                  <dgm:constr type="h" for="ch" forName="BalanceSpacing1" refType="h" fact="0.6"/>
                </dgm:constrLst>
              </dgm:if>
              <dgm:else name="Name5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  <dgm:constr type="l" for="ch" forName="BalanceSpacing1" refType="w" fact="0"/>
                  <dgm:constr type="t" for="ch" forName="BalanceSpacing1" refType="h" fact="0.2"/>
                  <dgm:constr type="w" for="ch" forName="BalanceSpacing1" refType="w" fact="0.3"/>
                  <dgm:constr type="h" for="ch" forName="BalanceSpacing1" refType="h" fact="0.6"/>
                </dgm:constrLst>
              </dgm:else>
            </dgm:choose>
          </dgm:if>
          <dgm:else name="Name6">
            <dgm:choose name="Name7">
              <dgm:if name="Name8" axis="self" ptType="node" func="posOdd" op="equ" val="1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if>
              <dgm:else name="Name9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else>
            </dgm:choose>
          </dgm:else>
        </dgm:choose>
        <dgm:layoutNode name="Parent1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rot="90" type="hexagon" r:blip="">
            <dgm:adjLst>
              <dgm:adj idx="1" val="0.25"/>
              <dgm:adj idx="2" val="1.154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hildtext1" styleLbl="revTx">
          <dgm:varLst>
            <dgm:chMax val="0"/>
            <dgm:chPref val="0"/>
            <dgm:bulletEnabled val="1"/>
          </dgm:varLst>
          <dgm:choose name="Name10">
            <dgm:if name="Name11" func="var" arg="dir" op="equ" val="norm">
              <dgm:choose name="Name12">
                <dgm:if name="Name13" axis="self" ptType="node" func="posOdd" op="equ" val="1">
                  <dgm:alg type="tx">
                    <dgm:param type="parTxLTRAlign" val="l"/>
                  </dgm:alg>
                </dgm:if>
                <dgm:else name="Name14">
                  <dgm:alg type="tx">
                    <dgm:param type="parTxLTRAlign" val="r"/>
                  </dgm:alg>
                </dgm:else>
              </dgm:choose>
            </dgm:if>
            <dgm:else name="Name15">
              <dgm:choose name="Name16">
                <dgm:if name="Name17" axis="self" ptType="node" func="posOdd" op="equ" val="1">
                  <dgm:alg type="tx">
                    <dgm:param type="parTxLTRAlign" val="r"/>
                  </dgm:alg>
                </dgm:if>
                <dgm:else name="Name18">
                  <dgm:alg type="tx">
                    <dgm:param type="parTxLTRAlign" val="l"/>
                  </dgm:alg>
                </dgm:else>
              </dgm:choose>
            </dgm:else>
          </dgm:choose>
          <dgm:shape xmlns:r="http://schemas.openxmlformats.org/officeDocument/2006/relationships" type="rect" r:blip="">
            <dgm:adjLst/>
          </dgm:shape>
          <dgm:presOf axis="des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BalanceSpacing">
          <dgm:alg type="sp"/>
          <dgm:shape xmlns:r="http://schemas.openxmlformats.org/officeDocument/2006/relationships" r:blip="">
            <dgm:adjLst/>
          </dgm:shape>
        </dgm:layoutNode>
        <dgm:layoutNode name="BalanceSpacing1">
          <dgm:alg type="sp"/>
          <dgm:shape xmlns:r="http://schemas.openxmlformats.org/officeDocument/2006/relationships" r:blip="">
            <dgm:adjLst/>
          </dgm:shape>
        </dgm:layoutNode>
        <dgm:forEach name="Name19" axis="followSib" ptType="sibTrans" hideLastTrans="0" cnt="1">
          <dgm:layoutNode name="Accent1Text" styleLbl="node1">
            <dgm:alg type="tx"/>
            <dgm:shape xmlns:r="http://schemas.openxmlformats.org/officeDocument/2006/relationships" rot="90" type="hexagon" r:blip="">
              <dgm:adjLst>
                <dgm:adj idx="1" val="0.25"/>
                <dgm:adj idx="2" val="1.1547"/>
              </dgm:adjLst>
            </dgm:shape>
            <dgm:presOf axis="self" ptType="sibTrans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forEach>
      </dgm:layoutNode>
      <dgm:forEach name="Name2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 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2FC74BDE-6627-49B6-90F1-0334E723F64C}" type="datetime1">
              <a:rPr lang="fr-FR" smtClean="0"/>
              <a:t>02/10/2026</a:t>
            </a:fld>
            <a:endParaRPr lang="en-US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A975D426-A9DD-4244-A2CE-1FB6623742C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484457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 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F28DAF60-E56A-4648-8936-22D801672B6C}" type="datetime1">
              <a:rPr lang="fr-FR" smtClean="0"/>
              <a:t>02/10/2026</a:t>
            </a:fld>
            <a:endParaRPr lang="en-US"/>
          </a:p>
        </p:txBody>
      </p:sp>
      <p:sp>
        <p:nvSpPr>
          <p:cNvPr id="4" name="Espace réservé de l’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/>
          </a:p>
        </p:txBody>
      </p:sp>
      <p:sp>
        <p:nvSpPr>
          <p:cNvPr id="5" name="Espace réservé des commentaires 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fr"/>
              <a:t>Modifiez les styles du texte du masque</a:t>
            </a:r>
            <a:endParaRPr lang="en-US"/>
          </a:p>
          <a:p>
            <a:pPr lvl="1" rtl="0"/>
            <a:r>
              <a:rPr lang="fr"/>
              <a:t>Deuxième niveau</a:t>
            </a:r>
          </a:p>
          <a:p>
            <a:pPr lvl="2" rtl="0"/>
            <a:r>
              <a:rPr lang="fr"/>
              <a:t>Troisième niveau</a:t>
            </a:r>
          </a:p>
          <a:p>
            <a:pPr lvl="3" rtl="0"/>
            <a:r>
              <a:rPr lang="fr"/>
              <a:t>Quatrième niveau</a:t>
            </a:r>
          </a:p>
          <a:p>
            <a:pPr lvl="4" rtl="0"/>
            <a:r>
              <a:rPr lang="fr"/>
              <a:t>Cinquième niveau</a:t>
            </a:r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01B41D33-19C8-4450-B3C5-BE83E9C8F0BC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455252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rtlCol="0"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8" name="Espace réservé de la date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641DF6C-ECED-4BD8-8025-73323DD5D35C}" type="datetime1">
              <a:rPr lang="fr-FR" smtClean="0"/>
              <a:t>02/10/2026</a:t>
            </a:fld>
            <a:endParaRPr lang="en-US" dirty="0"/>
          </a:p>
        </p:txBody>
      </p:sp>
      <p:sp>
        <p:nvSpPr>
          <p:cNvPr id="9" name="Espace réservé du pied de page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 rtlCol="0"/>
          <a:lstStyle/>
          <a:p>
            <a:pPr rt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3634486"/>
          </a:xfrm>
        </p:spPr>
        <p:txBody>
          <a:bodyPr rtlCol="0"/>
          <a:lstStyle/>
          <a:p>
            <a:pPr lvl="0" rtl="0"/>
            <a:r>
              <a:rPr lang="fr-FR"/>
              <a:t>Cliquez pour modifier les styles du texte du masque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  <a:endParaRPr lang="en-US" dirty="0"/>
          </a:p>
        </p:txBody>
      </p:sp>
      <p:sp>
        <p:nvSpPr>
          <p:cNvPr id="8" name="Espace réservé de la date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2897033-9A55-4DAC-991D-1FF1921C78B7}" type="datetime1">
              <a:rPr lang="fr-FR" smtClean="0"/>
              <a:t>02/10/2026</a:t>
            </a:fld>
            <a:endParaRPr lang="en-US" dirty="0"/>
          </a:p>
        </p:txBody>
      </p:sp>
      <p:sp>
        <p:nvSpPr>
          <p:cNvPr id="9" name="Espace réservé du pied de page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rtlCol="0"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fr-FR"/>
              <a:t>Cliquez pour modifier les styles du texte du masque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1255F31-5DB3-4925-BA87-822F5B17A2F1}" type="datetime1">
              <a:rPr lang="fr-FR" smtClean="0"/>
              <a:t>02/10/2026</a:t>
            </a:fld>
            <a:endParaRPr lang="en-US" dirty="0"/>
          </a:p>
        </p:txBody>
      </p:sp>
      <p:sp>
        <p:nvSpPr>
          <p:cNvPr id="9" name="Espace réservé du pied de page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 rtlCol="0">
            <a:normAutofit/>
          </a:bodyPr>
          <a:lstStyle/>
          <a:p>
            <a:pPr lvl="0" rtl="0"/>
            <a:r>
              <a:rPr lang="fr-FR"/>
              <a:t>Cliquez pour modifier les styles du texte du masque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416039" y="2228003"/>
            <a:ext cx="5194769" cy="3633047"/>
          </a:xfrm>
        </p:spPr>
        <p:txBody>
          <a:bodyPr rtlCol="0">
            <a:normAutofit/>
          </a:bodyPr>
          <a:lstStyle/>
          <a:p>
            <a:pPr lvl="0" rtl="0"/>
            <a:r>
              <a:rPr lang="fr-FR"/>
              <a:t>Cliquez pour modifier les styles du texte du masque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E4EF44C-5F50-4A80-A957-57B3338337C0}" type="datetime1">
              <a:rPr lang="fr-FR" smtClean="0"/>
              <a:t>02/10/2026</a:t>
            </a:fld>
            <a:endParaRPr lang="en-US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r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rtlCol="0"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fr-FR"/>
              <a:t>Cliquez pour modifier les styles du texte du masque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rtlCol="0"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fr-FR"/>
              <a:t>Cliquez pour modifier les styles du texte du masque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2D0F46D-59FD-4484-924E-E79DD516B5ED}" type="datetime1">
              <a:rPr lang="fr-FR" smtClean="0"/>
              <a:t>02/10/2026</a:t>
            </a:fld>
            <a:endParaRPr lang="en-US" dirty="0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uniqu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r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 rtlCol="0"/>
          <a:lstStyle/>
          <a:p>
            <a:pPr rt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FAEC910-4AAA-42A1-A49C-7DDC64BC53C6}" type="datetime1">
              <a:rPr lang="fr-FR" smtClean="0"/>
              <a:t>02/10/2026</a:t>
            </a:fld>
            <a:endParaRPr lang="en-US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CEC98BE-FCE2-445F-8146-3A7F8CC3881D}" type="datetime1">
              <a:rPr lang="fr-FR" smtClean="0"/>
              <a:t>02/10/2026</a:t>
            </a:fld>
            <a:endParaRPr lang="en-US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rtlCol="0"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rtlCol="0"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 rtl="0"/>
            <a:r>
              <a:rPr lang="fr-FR"/>
              <a:t>Cliquez pour modifier les styles du texte du masque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r-FR"/>
              <a:t>Cliquez pour modifier les styles du texte du masque</a:t>
            </a:r>
          </a:p>
        </p:txBody>
      </p:sp>
      <p:sp>
        <p:nvSpPr>
          <p:cNvPr id="8" name="Espace réservé de la date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 rtlCol="0"/>
          <a:lstStyle/>
          <a:p>
            <a:pPr rtl="0"/>
            <a:fld id="{6D0953DD-A6BD-427D-B7A8-BDE378B2E678}" type="datetime1">
              <a:rPr lang="fr-FR" smtClean="0"/>
              <a:t>02/10/2026</a:t>
            </a:fld>
            <a:endParaRPr lang="en-US" dirty="0"/>
          </a:p>
        </p:txBody>
      </p:sp>
      <p:sp>
        <p:nvSpPr>
          <p:cNvPr id="10" name="Espace réservé du pied de page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 rtlCol="0"/>
          <a:lstStyle/>
          <a:p>
            <a:pPr rtl="0"/>
            <a:fld id="{3A98EE3D-8CD1-4C3F-BD1C-C98C9596463C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rtlCol="0"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Espace réservé d’image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rtlCol="0"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7E77B56-6788-4F40-A65E-12AFEB3AC095}" type="datetime1">
              <a:rPr lang="fr-FR" smtClean="0"/>
              <a:t>02/10/2026</a:t>
            </a:fld>
            <a:endParaRPr lang="en-US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algn="l" rtl="0"/>
            <a:endParaRPr lang="en-US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Espace réservé du texte vertical 2"/>
          <p:cNvSpPr>
            <a:spLocks noGrp="1"/>
          </p:cNvSpPr>
          <p:nvPr>
            <p:ph type="body" orient="vert" idx="1"/>
          </p:nvPr>
        </p:nvSpPr>
        <p:spPr/>
        <p:txBody>
          <a:bodyPr vert="eaVert" rtlCol="0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 rtl="0"/>
            <a:r>
              <a:rPr lang="fr-FR"/>
              <a:t>Cliquez pour modifier les styles du texte du masque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E5B03D9-FC89-4784-BD60-336471BA7724}" type="datetime1">
              <a:rPr lang="fr-FR" smtClean="0"/>
              <a:t>02/10/2026</a:t>
            </a:fld>
            <a:endParaRPr lang="en-US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re vertical 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rtlCol="0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rt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rtlCol="0" anchor="t"/>
          <a:lstStyle/>
          <a:p>
            <a:pPr lvl="0" rtl="0"/>
            <a:r>
              <a:rPr lang="fr-FR"/>
              <a:t>Cliquez pour modifier les styles du texte du masque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9" name="Rectangle 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11" name="Espace réservé de la date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0216CB3-B929-446C-876F-83C9B86D9FDE}" type="datetime1">
              <a:rPr lang="fr-FR" smtClean="0"/>
              <a:t>02/10/2026</a:t>
            </a:fld>
            <a:endParaRPr lang="en-US" dirty="0"/>
          </a:p>
        </p:txBody>
      </p:sp>
      <p:sp>
        <p:nvSpPr>
          <p:cNvPr id="12" name="Espace réservé du pied de page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3" name="Espace réservé du numéro de diapositive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au titre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fr"/>
              <a:t>Modifiez le style du titre</a:t>
            </a:r>
            <a:endParaRPr lang="en-US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fr"/>
              <a:t>Modifiez les styles du texte du masque</a:t>
            </a:r>
          </a:p>
          <a:p>
            <a:pPr lvl="1" rtl="0"/>
            <a:r>
              <a:rPr lang="fr"/>
              <a:t>Deuxième niveau</a:t>
            </a:r>
          </a:p>
          <a:p>
            <a:pPr lvl="2" rtl="0"/>
            <a:r>
              <a:rPr lang="fr"/>
              <a:t>Troisième niveau</a:t>
            </a:r>
          </a:p>
          <a:p>
            <a:pPr lvl="3" rtl="0"/>
            <a:r>
              <a:rPr lang="fr"/>
              <a:t>Quatrième niveau</a:t>
            </a:r>
          </a:p>
          <a:p>
            <a:pPr lvl="4" rtl="0"/>
            <a:r>
              <a:rPr lang="fr"/>
              <a:t>Cinquième niveau</a:t>
            </a:r>
            <a:endParaRPr lang="en-US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E69A0D1A-B1A6-4A33-B3AE-513EF3B4A7E7}" type="datetime1">
              <a:rPr lang="fr-FR" smtClean="0"/>
              <a:t>02/10/2026</a:t>
            </a:fld>
            <a:endParaRPr lang="en-US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3A98EE3D-8CD1-4C3F-BD1C-C98C9596463C}" type="slidenum">
              <a:rPr lang="en-US" smtClean="0"/>
              <a:t>‹N°›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hyperlink" Target="https://sebules.github.io/Project_10_OpenClassrooms_Data_Engineer/Diagramme.drawio.html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://localhost:8080/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D6D7A0BC-0046-4CAA-8E7F-DCAFE511EA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C21E816-31F5-48BB-BD02-D15F2F18B4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</p:spPr>
        <p:txBody>
          <a:bodyPr rtlCol="0">
            <a:normAutofit/>
          </a:bodyPr>
          <a:lstStyle/>
          <a:p>
            <a:pPr rtl="0"/>
            <a:r>
              <a:rPr lang="fr-FR" dirty="0"/>
              <a:t>Mettre en place un pipeline d’orchestration des flux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35D6E6B-3353-491C-A3C6-F278D6CED8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6534" y="2671524"/>
            <a:ext cx="10993546" cy="468233"/>
          </a:xfrm>
        </p:spPr>
        <p:txBody>
          <a:bodyPr rtlCol="0">
            <a:normAutofit fontScale="85000" lnSpcReduction="20000"/>
          </a:bodyPr>
          <a:lstStyle/>
          <a:p>
            <a:pPr rtl="0"/>
            <a:endParaRPr lang="fr" sz="900" dirty="0"/>
          </a:p>
          <a:p>
            <a:pPr rtl="0"/>
            <a:r>
              <a:rPr lang="fr" sz="1300" dirty="0"/>
              <a:t>SEBASTIEN ULESIE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7C6334F-6411-41EC-AD7D-179EDD8B5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6B02CEE-3AF8-4349-9B3E-8970E6DF62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A01CF0-3FB5-44EB-B7DE-F2E86374C2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pic>
        <p:nvPicPr>
          <p:cNvPr id="6" name="Image 5" descr="Zoom sur un logo&#10;&#10;Description générée automatiquement">
            <a:extLst>
              <a:ext uri="{FF2B5EF4-FFF2-40B4-BE49-F238E27FC236}">
                <a16:creationId xmlns:a16="http://schemas.microsoft.com/office/drawing/2014/main" id="{F1A8C364-94D4-4630-BAD0-78722F34705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8733" y="3081867"/>
            <a:ext cx="11260667" cy="3310466"/>
          </a:xfrm>
          <a:prstGeom prst="rect">
            <a:avLst/>
          </a:prstGeom>
        </p:spPr>
      </p:pic>
      <p:sp>
        <p:nvSpPr>
          <p:cNvPr id="9" name="Shape 5">
            <a:extLst>
              <a:ext uri="{FF2B5EF4-FFF2-40B4-BE49-F238E27FC236}">
                <a16:creationId xmlns:a16="http://schemas.microsoft.com/office/drawing/2014/main" id="{8906A09D-B10A-9A50-1CC7-7616EDB4E8D4}"/>
              </a:ext>
            </a:extLst>
          </p:cNvPr>
          <p:cNvSpPr/>
          <p:nvPr/>
        </p:nvSpPr>
        <p:spPr>
          <a:xfrm>
            <a:off x="1705076" y="2495444"/>
            <a:ext cx="1828800" cy="411480"/>
          </a:xfrm>
          <a:prstGeom prst="roundRect">
            <a:avLst>
              <a:gd name="adj" fmla="val 26667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F69A5CB0-EC5A-12ED-6B1D-F8B2213D4A8E}"/>
              </a:ext>
            </a:extLst>
          </p:cNvPr>
          <p:cNvSpPr/>
          <p:nvPr/>
        </p:nvSpPr>
        <p:spPr>
          <a:xfrm>
            <a:off x="1705076" y="2495444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Kestra</a:t>
            </a:r>
            <a:endParaRPr lang="en-US" sz="1200" dirty="0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FF5101B1-43B4-333F-BF3E-755660DEE995}"/>
              </a:ext>
            </a:extLst>
          </p:cNvPr>
          <p:cNvSpPr/>
          <p:nvPr/>
        </p:nvSpPr>
        <p:spPr>
          <a:xfrm>
            <a:off x="3762476" y="2495444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MongoDB</a:t>
            </a:r>
            <a:endParaRPr lang="en-US" sz="1200" dirty="0"/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06CD8C8F-B0CC-67AC-347D-D164238EDFB1}"/>
              </a:ext>
            </a:extLst>
          </p:cNvPr>
          <p:cNvSpPr/>
          <p:nvPr/>
        </p:nvSpPr>
        <p:spPr>
          <a:xfrm>
            <a:off x="5819876" y="2495444"/>
            <a:ext cx="1828800" cy="411480"/>
          </a:xfrm>
          <a:prstGeom prst="roundRect">
            <a:avLst>
              <a:gd name="adj" fmla="val 26667"/>
            </a:avLst>
          </a:prstGeom>
          <a:solidFill>
            <a:srgbClr val="2496E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FA0F1F9C-CF71-8CEF-2184-C9097D5932A9}"/>
              </a:ext>
            </a:extLst>
          </p:cNvPr>
          <p:cNvSpPr/>
          <p:nvPr/>
        </p:nvSpPr>
        <p:spPr>
          <a:xfrm>
            <a:off x="5819876" y="2495444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 err="1">
                <a:solidFill>
                  <a:srgbClr val="FFFFFF"/>
                </a:solidFill>
              </a:rPr>
              <a:t>DuckDB</a:t>
            </a:r>
            <a:endParaRPr lang="en-US" sz="1200" dirty="0"/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D5411994-A2F5-1A64-4D0F-610038279EAD}"/>
              </a:ext>
            </a:extLst>
          </p:cNvPr>
          <p:cNvSpPr/>
          <p:nvPr/>
        </p:nvSpPr>
        <p:spPr>
          <a:xfrm>
            <a:off x="7877276" y="2495444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Pytest</a:t>
            </a:r>
            <a:endParaRPr lang="en-US" sz="1200" dirty="0"/>
          </a:p>
        </p:txBody>
      </p:sp>
      <p:sp>
        <p:nvSpPr>
          <p:cNvPr id="5" name="Shape 11">
            <a:extLst>
              <a:ext uri="{FF2B5EF4-FFF2-40B4-BE49-F238E27FC236}">
                <a16:creationId xmlns:a16="http://schemas.microsoft.com/office/drawing/2014/main" id="{F4ABF44D-AF35-3FF3-5241-42BC10644812}"/>
              </a:ext>
            </a:extLst>
          </p:cNvPr>
          <p:cNvSpPr/>
          <p:nvPr/>
        </p:nvSpPr>
        <p:spPr>
          <a:xfrm>
            <a:off x="9911130" y="2495444"/>
            <a:ext cx="1828800" cy="411480"/>
          </a:xfrm>
          <a:prstGeom prst="roundRect">
            <a:avLst>
              <a:gd name="adj" fmla="val 26667"/>
            </a:avLst>
          </a:prstGeom>
          <a:solidFill>
            <a:srgbClr val="FFC000"/>
          </a:solidFill>
          <a:ln/>
        </p:spPr>
        <p:txBody>
          <a:bodyPr anchor="ctr"/>
          <a:lstStyle/>
          <a:p>
            <a:pPr algn="ctr"/>
            <a:r>
              <a:rPr lang="fr-FR" sz="1200" b="1" dirty="0">
                <a:solidFill>
                  <a:schemeClr val="bg1"/>
                </a:solidFill>
              </a:rPr>
              <a:t>SQL/Python</a:t>
            </a:r>
          </a:p>
        </p:txBody>
      </p:sp>
    </p:spTree>
    <p:extLst>
      <p:ext uri="{BB962C8B-B14F-4D97-AF65-F5344CB8AC3E}">
        <p14:creationId xmlns:p14="http://schemas.microsoft.com/office/powerpoint/2010/main" val="2475805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90581BB-D273-2748-59E2-5B1D678D7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Sommaire</a:t>
            </a:r>
          </a:p>
        </p:txBody>
      </p:sp>
      <p:graphicFrame>
        <p:nvGraphicFramePr>
          <p:cNvPr id="5" name="Espace réservé du contenu 4">
            <a:extLst>
              <a:ext uri="{FF2B5EF4-FFF2-40B4-BE49-F238E27FC236}">
                <a16:creationId xmlns:a16="http://schemas.microsoft.com/office/drawing/2014/main" id="{C0FBDBC2-024B-60B6-BEE4-9D4312913FE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69296674"/>
              </p:ext>
            </p:extLst>
          </p:nvPr>
        </p:nvGraphicFramePr>
        <p:xfrm>
          <a:off x="581192" y="1985811"/>
          <a:ext cx="11348216" cy="48032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FB99B3D-02B8-72CA-5973-9E0DC630CA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23914"/>
            <a:ext cx="4004857" cy="365125"/>
          </a:xfrm>
        </p:spPr>
        <p:txBody>
          <a:bodyPr/>
          <a:lstStyle/>
          <a:p>
            <a:pPr rtl="0"/>
            <a:fld id="{22897033-9A55-4DAC-991D-1FF1921C78B7}" type="datetime1">
              <a:rPr lang="fr-FR" smtClean="0"/>
              <a:t>02/10/2026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31010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Espace réservé du contenu 6">
            <a:extLst>
              <a:ext uri="{FF2B5EF4-FFF2-40B4-BE49-F238E27FC236}">
                <a16:creationId xmlns:a16="http://schemas.microsoft.com/office/drawing/2014/main" id="{E28E8F6D-02FF-3D2F-AC7C-9E6FA4F040E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89862955"/>
              </p:ext>
            </p:extLst>
          </p:nvPr>
        </p:nvGraphicFramePr>
        <p:xfrm>
          <a:off x="1030794" y="833616"/>
          <a:ext cx="9503279" cy="69918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itre 1">
            <a:extLst>
              <a:ext uri="{FF2B5EF4-FFF2-40B4-BE49-F238E27FC236}">
                <a16:creationId xmlns:a16="http://schemas.microsoft.com/office/drawing/2014/main" id="{4D5943B5-2F35-F9C9-051D-7DF4E3212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1 - Contexte et objectif</a:t>
            </a:r>
            <a:br>
              <a:rPr lang="fr-FR" dirty="0"/>
            </a:br>
            <a:endParaRPr lang="fr-FR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3B45894-BF0A-B7E8-B359-57B63E483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22897033-9A55-4DAC-991D-1FF1921C78B7}" type="datetime1">
              <a:rPr lang="fr-FR" smtClean="0"/>
              <a:t>02/10/2026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34482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3EF029E-C20D-FC80-6B16-21EC7B080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/>
          <a:lstStyle/>
          <a:p>
            <a:r>
              <a:rPr lang="fr-FR" dirty="0"/>
              <a:t>2. Logigramme</a:t>
            </a:r>
            <a:br>
              <a:rPr lang="fr-FR" dirty="0"/>
            </a:br>
            <a:endParaRPr lang="fr-FR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47D3905-5571-80C8-8D93-3691E4B98A9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23914"/>
            <a:ext cx="2844799" cy="365125"/>
          </a:xfrm>
        </p:spPr>
        <p:txBody>
          <a:bodyPr/>
          <a:lstStyle/>
          <a:p>
            <a:fld id="{22897033-9A55-4DAC-991D-1FF1921C78B7}" type="datetime1">
              <a:rPr lang="fr-FR" smtClean="0"/>
              <a:pPr/>
              <a:t>02/10/2026</a:t>
            </a:fld>
            <a:endParaRPr lang="en-US" dirty="0"/>
          </a:p>
        </p:txBody>
      </p:sp>
      <p:pic>
        <p:nvPicPr>
          <p:cNvPr id="7" name="Image 6">
            <a:hlinkClick r:id="rId2"/>
            <a:extLst>
              <a:ext uri="{FF2B5EF4-FFF2-40B4-BE49-F238E27FC236}">
                <a16:creationId xmlns:a16="http://schemas.microsoft.com/office/drawing/2014/main" id="{A140C5AC-CA73-578E-21B8-C330419506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684" y="1654909"/>
            <a:ext cx="2844799" cy="510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52673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12EBF0-1925-EF88-AE7E-07C45578A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D116D14-AF4E-AAC7-1FF2-1FFDA6BA0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/>
          <a:lstStyle/>
          <a:p>
            <a:r>
              <a:rPr lang="fr-FR" dirty="0"/>
              <a:t>2. Logigramme</a:t>
            </a:r>
            <a:br>
              <a:rPr lang="fr-FR" dirty="0"/>
            </a:br>
            <a:endParaRPr lang="fr-FR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E4FEDF3-8690-12FE-DC16-BDF39EF85D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23914"/>
            <a:ext cx="2844799" cy="365125"/>
          </a:xfrm>
        </p:spPr>
        <p:txBody>
          <a:bodyPr/>
          <a:lstStyle/>
          <a:p>
            <a:fld id="{22897033-9A55-4DAC-991D-1FF1921C78B7}" type="datetime1">
              <a:rPr lang="fr-FR" smtClean="0"/>
              <a:pPr/>
              <a:t>02/10/2026</a:t>
            </a:fld>
            <a:endParaRPr lang="en-US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87FC02A8-E266-8C83-832C-2AB66F280C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684" y="1654909"/>
            <a:ext cx="2844799" cy="5109675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0DEA08B3-4F66-4B4F-AC11-ACE6C4BBD0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-1" r="60931" b="65465"/>
          <a:stretch>
            <a:fillRect/>
          </a:stretch>
        </p:blipFill>
        <p:spPr>
          <a:xfrm>
            <a:off x="4000333" y="576507"/>
            <a:ext cx="3944787" cy="6263332"/>
          </a:xfrm>
          <a:prstGeom prst="rect">
            <a:avLst/>
          </a:prstGeom>
          <a:ln w="19050">
            <a:solidFill>
              <a:srgbClr val="FF0000"/>
            </a:solidFill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C4520A2-00AB-3ED1-A3F7-829D28AAF762}"/>
              </a:ext>
            </a:extLst>
          </p:cNvPr>
          <p:cNvSpPr/>
          <p:nvPr/>
        </p:nvSpPr>
        <p:spPr>
          <a:xfrm>
            <a:off x="413684" y="1559324"/>
            <a:ext cx="1008716" cy="18696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773607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66DEE0-4125-FAE8-2E4A-7B565DD8D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D5D7B1E-0A02-027A-76BD-27842DC71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/>
          <a:lstStyle/>
          <a:p>
            <a:r>
              <a:rPr lang="fr-FR" dirty="0"/>
              <a:t>2. Logigramme</a:t>
            </a:r>
            <a:br>
              <a:rPr lang="fr-FR" dirty="0"/>
            </a:br>
            <a:endParaRPr lang="fr-FR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BC607AB-779F-46FD-AF02-746C684BC19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23914"/>
            <a:ext cx="2844799" cy="365125"/>
          </a:xfrm>
        </p:spPr>
        <p:txBody>
          <a:bodyPr/>
          <a:lstStyle/>
          <a:p>
            <a:fld id="{22897033-9A55-4DAC-991D-1FF1921C78B7}" type="datetime1">
              <a:rPr lang="fr-FR" smtClean="0"/>
              <a:pPr/>
              <a:t>02/10/2026</a:t>
            </a:fld>
            <a:endParaRPr lang="en-US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680D0591-B988-B95F-CC2F-94F12DB11A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684" y="1654909"/>
            <a:ext cx="2844799" cy="510967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35A9B01-00E9-0D83-015F-5E1BE12B2EA6}"/>
              </a:ext>
            </a:extLst>
          </p:cNvPr>
          <p:cNvSpPr/>
          <p:nvPr/>
        </p:nvSpPr>
        <p:spPr>
          <a:xfrm>
            <a:off x="413685" y="3428453"/>
            <a:ext cx="2197436" cy="137722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8A014D0D-6A3D-8114-C223-D6FF2657B5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574" r="30026" b="38828"/>
          <a:stretch>
            <a:fillRect/>
          </a:stretch>
        </p:blipFill>
        <p:spPr>
          <a:xfrm>
            <a:off x="3527591" y="1296516"/>
            <a:ext cx="7455369" cy="5090160"/>
          </a:xfrm>
          <a:prstGeom prst="rect">
            <a:avLst/>
          </a:prstGeom>
          <a:ln w="19050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3236933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71AE6A-F67B-712E-42B0-0A519EDC3B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EEE07B0-7B93-B181-9734-C235B2EBC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/>
          <a:lstStyle/>
          <a:p>
            <a:r>
              <a:rPr lang="fr-FR" dirty="0"/>
              <a:t>2. Logigramme</a:t>
            </a:r>
            <a:br>
              <a:rPr lang="fr-FR" dirty="0"/>
            </a:br>
            <a:endParaRPr lang="fr-FR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6B733A1-42E8-14AF-65F1-19F8B929DE6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23914"/>
            <a:ext cx="2844799" cy="365125"/>
          </a:xfrm>
        </p:spPr>
        <p:txBody>
          <a:bodyPr/>
          <a:lstStyle/>
          <a:p>
            <a:fld id="{22897033-9A55-4DAC-991D-1FF1921C78B7}" type="datetime1">
              <a:rPr lang="fr-FR" smtClean="0"/>
              <a:pPr/>
              <a:t>02/10/2026</a:t>
            </a:fld>
            <a:endParaRPr lang="en-US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224B6B19-4AA9-D29F-ED28-151B9AF1B5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684" y="1654909"/>
            <a:ext cx="2844799" cy="510967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296A225-DE6C-04AF-D80A-EBDDB414CB88}"/>
              </a:ext>
            </a:extLst>
          </p:cNvPr>
          <p:cNvSpPr/>
          <p:nvPr/>
        </p:nvSpPr>
        <p:spPr>
          <a:xfrm>
            <a:off x="925487" y="4778616"/>
            <a:ext cx="2409409" cy="198596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3AFEC35E-CDE4-BB26-653C-92B6D63BCA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24" t="60985"/>
          <a:stretch>
            <a:fillRect/>
          </a:stretch>
        </p:blipFill>
        <p:spPr>
          <a:xfrm>
            <a:off x="4150659" y="691264"/>
            <a:ext cx="7115853" cy="6097775"/>
          </a:xfrm>
          <a:prstGeom prst="rect">
            <a:avLst/>
          </a:prstGeom>
          <a:ln w="19050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40014472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E84ED0F-FEE1-6287-7A99-C6369609A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3. TOPOLOGIE </a:t>
            </a:r>
            <a:r>
              <a:rPr lang="fr-FR" dirty="0" err="1"/>
              <a:t>Kestra</a:t>
            </a:r>
            <a:br>
              <a:rPr lang="fr-FR" dirty="0"/>
            </a:br>
            <a:endParaRPr lang="fr-FR" dirty="0"/>
          </a:p>
        </p:txBody>
      </p:sp>
      <p:pic>
        <p:nvPicPr>
          <p:cNvPr id="42" name="Image 41">
            <a:extLst>
              <a:ext uri="{FF2B5EF4-FFF2-40B4-BE49-F238E27FC236}">
                <a16:creationId xmlns:a16="http://schemas.microsoft.com/office/drawing/2014/main" id="{EBDE3FF1-1312-315D-6972-F0D6B74130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621" y="1618128"/>
            <a:ext cx="575199" cy="5239871"/>
          </a:xfrm>
          <a:prstGeom prst="rect">
            <a:avLst/>
          </a:prstGeom>
        </p:spPr>
      </p:pic>
      <p:pic>
        <p:nvPicPr>
          <p:cNvPr id="57" name="Image 56">
            <a:extLst>
              <a:ext uri="{FF2B5EF4-FFF2-40B4-BE49-F238E27FC236}">
                <a16:creationId xmlns:a16="http://schemas.microsoft.com/office/drawing/2014/main" id="{81FBA07D-ECEF-72D0-2E13-BD72A225CD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1694" y="1463266"/>
            <a:ext cx="4526884" cy="5394733"/>
          </a:xfrm>
          <a:prstGeom prst="rect">
            <a:avLst/>
          </a:prstGeom>
          <a:ln w="12700">
            <a:solidFill>
              <a:srgbClr val="FF0000"/>
            </a:solidFill>
          </a:ln>
        </p:spPr>
      </p:pic>
      <p:sp>
        <p:nvSpPr>
          <p:cNvPr id="58" name="Rectangle 57">
            <a:extLst>
              <a:ext uri="{FF2B5EF4-FFF2-40B4-BE49-F238E27FC236}">
                <a16:creationId xmlns:a16="http://schemas.microsoft.com/office/drawing/2014/main" id="{F00DC422-5E1E-213B-AA64-55273411CD07}"/>
              </a:ext>
            </a:extLst>
          </p:cNvPr>
          <p:cNvSpPr/>
          <p:nvPr/>
        </p:nvSpPr>
        <p:spPr>
          <a:xfrm>
            <a:off x="693621" y="1618128"/>
            <a:ext cx="575199" cy="7037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81D8AB8C-7E9A-8839-48C3-B8E3A6A7EF7D}"/>
              </a:ext>
            </a:extLst>
          </p:cNvPr>
          <p:cNvSpPr txBox="1"/>
          <p:nvPr/>
        </p:nvSpPr>
        <p:spPr>
          <a:xfrm>
            <a:off x="8805334" y="2060249"/>
            <a:ext cx="32342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i="1" dirty="0"/>
              <a:t>Permet l'exécution automatique du workflow tous les 15 du mois à 9h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01245A31-5FE6-3BCF-F7E3-20A2F7B9828C}"/>
              </a:ext>
            </a:extLst>
          </p:cNvPr>
          <p:cNvSpPr txBox="1"/>
          <p:nvPr/>
        </p:nvSpPr>
        <p:spPr>
          <a:xfrm>
            <a:off x="8805334" y="3789662"/>
            <a:ext cx="323426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i="1" dirty="0"/>
              <a:t>Trois fichiers Excel sont téléchargés depuis GitHub : les données ERP (Fichier_erp.xlsx), un fichier de liaison entre systèmes (fichier_liaison.xlsx) et les données web (Fichier_web.xlsx).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5DA5C7A5-0573-38BC-A100-A0871A5D68D7}"/>
              </a:ext>
            </a:extLst>
          </p:cNvPr>
          <p:cNvSpPr txBox="1"/>
          <p:nvPr/>
        </p:nvSpPr>
        <p:spPr>
          <a:xfrm>
            <a:off x="8805334" y="5580630"/>
            <a:ext cx="323426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i="1" dirty="0"/>
              <a:t>Un script Python charge ces trois fichiers dans une base </a:t>
            </a:r>
            <a:r>
              <a:rPr lang="fr-FR" sz="1400" i="1" dirty="0" err="1"/>
              <a:t>DuckDB</a:t>
            </a:r>
            <a:r>
              <a:rPr lang="fr-FR" sz="1400" i="1" dirty="0"/>
              <a:t> (</a:t>
            </a:r>
            <a:r>
              <a:rPr lang="fr-FR" sz="1400" i="1" dirty="0" err="1"/>
              <a:t>bottleneck.db</a:t>
            </a:r>
            <a:r>
              <a:rPr lang="fr-FR" sz="1400" i="1" dirty="0"/>
              <a:t>), créant les tables </a:t>
            </a:r>
            <a:r>
              <a:rPr lang="fr-FR" sz="1400" i="1" dirty="0" err="1"/>
              <a:t>erp_export_data</a:t>
            </a:r>
            <a:r>
              <a:rPr lang="fr-FR" sz="1400" i="1" dirty="0"/>
              <a:t>, </a:t>
            </a:r>
            <a:r>
              <a:rPr lang="fr-FR" sz="1400" i="1" dirty="0" err="1"/>
              <a:t>web_export_data</a:t>
            </a:r>
            <a:r>
              <a:rPr lang="fr-FR" sz="1400" i="1" dirty="0"/>
              <a:t> et </a:t>
            </a:r>
            <a:r>
              <a:rPr lang="fr-FR" sz="1400" i="1" dirty="0" err="1"/>
              <a:t>liaison_export_data</a:t>
            </a:r>
            <a:r>
              <a:rPr lang="fr-FR" sz="1400" i="1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1154217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9E4578-351E-C532-93BD-C697A5E6F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A73B99E-7893-A9CF-BD7E-D90091FEC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3. TOPOLOGIE </a:t>
            </a:r>
            <a:r>
              <a:rPr lang="fr-FR" dirty="0" err="1"/>
              <a:t>Kestra</a:t>
            </a:r>
            <a:br>
              <a:rPr lang="fr-FR" dirty="0"/>
            </a:br>
            <a:endParaRPr lang="fr-FR" dirty="0"/>
          </a:p>
        </p:txBody>
      </p:sp>
      <p:pic>
        <p:nvPicPr>
          <p:cNvPr id="42" name="Image 41">
            <a:extLst>
              <a:ext uri="{FF2B5EF4-FFF2-40B4-BE49-F238E27FC236}">
                <a16:creationId xmlns:a16="http://schemas.microsoft.com/office/drawing/2014/main" id="{AD08D421-563D-36A1-7998-0CB97FB30B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621" y="1618128"/>
            <a:ext cx="575199" cy="5239871"/>
          </a:xfrm>
          <a:prstGeom prst="rect">
            <a:avLst/>
          </a:prstGeom>
        </p:spPr>
      </p:pic>
      <p:sp>
        <p:nvSpPr>
          <p:cNvPr id="58" name="Rectangle 57">
            <a:extLst>
              <a:ext uri="{FF2B5EF4-FFF2-40B4-BE49-F238E27FC236}">
                <a16:creationId xmlns:a16="http://schemas.microsoft.com/office/drawing/2014/main" id="{62DEA550-6CF3-941C-3550-6FB406BE4FF0}"/>
              </a:ext>
            </a:extLst>
          </p:cNvPr>
          <p:cNvSpPr/>
          <p:nvPr/>
        </p:nvSpPr>
        <p:spPr>
          <a:xfrm>
            <a:off x="693621" y="2308409"/>
            <a:ext cx="575199" cy="80234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A5DBFD9D-5D3F-4EEB-A964-D27BF1260A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7509" y="1425387"/>
            <a:ext cx="4145319" cy="5432612"/>
          </a:xfrm>
          <a:prstGeom prst="rect">
            <a:avLst/>
          </a:prstGeom>
          <a:ln w="12700">
            <a:solidFill>
              <a:srgbClr val="FF0000"/>
            </a:solidFill>
          </a:ln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5A964B1F-601E-AEFA-FB05-F8FC563A1B27}"/>
              </a:ext>
            </a:extLst>
          </p:cNvPr>
          <p:cNvSpPr txBox="1"/>
          <p:nvPr/>
        </p:nvSpPr>
        <p:spPr>
          <a:xfrm>
            <a:off x="8859895" y="1643138"/>
            <a:ext cx="3175000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i="1" dirty="0"/>
              <a:t>Boucle qui sert à:</a:t>
            </a:r>
          </a:p>
          <a:p>
            <a:endParaRPr lang="fr-FR" sz="1400" i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i="1" dirty="0"/>
              <a:t>exécuter le script Python de nettoyage générique : suppression des colonnes/lignes vides, dédoublonnage, conversion de formats.</a:t>
            </a:r>
          </a:p>
          <a:p>
            <a:endParaRPr lang="fr-FR" sz="1400" i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i="1" dirty="0"/>
              <a:t>lancer des tests </a:t>
            </a:r>
            <a:r>
              <a:rPr lang="fr-FR" sz="1400" i="1" dirty="0" err="1"/>
              <a:t>pytest</a:t>
            </a:r>
            <a:r>
              <a:rPr lang="fr-FR" sz="1400" i="1" dirty="0"/>
              <a:t> : absence de colonnes nulles, absence de lignes nulles, absence de lignes en doublons, vérification de conversion de formats de données (dates au format DATE, prix au format NUMERIQUE…)</a:t>
            </a:r>
          </a:p>
          <a:p>
            <a:pPr marL="285750" indent="-285750">
              <a:buFontTx/>
              <a:buChar char="-"/>
            </a:pPr>
            <a:endParaRPr lang="fr-FR" sz="1400" i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i="1" dirty="0"/>
              <a:t>si les tests échouent, le flow est mis en pause.</a:t>
            </a:r>
          </a:p>
          <a:p>
            <a:endParaRPr lang="fr-FR" sz="1400" i="1" dirty="0"/>
          </a:p>
        </p:txBody>
      </p:sp>
    </p:spTree>
    <p:extLst>
      <p:ext uri="{BB962C8B-B14F-4D97-AF65-F5344CB8AC3E}">
        <p14:creationId xmlns:p14="http://schemas.microsoft.com/office/powerpoint/2010/main" val="37809964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FDE23A-B53C-3411-F0EF-9891CA39A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3E58F2D-A5F7-D609-0C0C-B93ECD492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3. TOPOLOGIE </a:t>
            </a:r>
            <a:r>
              <a:rPr lang="fr-FR" dirty="0" err="1"/>
              <a:t>Kestra</a:t>
            </a:r>
            <a:br>
              <a:rPr lang="fr-FR" dirty="0"/>
            </a:br>
            <a:endParaRPr lang="fr-FR" dirty="0"/>
          </a:p>
        </p:txBody>
      </p:sp>
      <p:pic>
        <p:nvPicPr>
          <p:cNvPr id="42" name="Image 41">
            <a:extLst>
              <a:ext uri="{FF2B5EF4-FFF2-40B4-BE49-F238E27FC236}">
                <a16:creationId xmlns:a16="http://schemas.microsoft.com/office/drawing/2014/main" id="{7F98CA5A-D794-D025-B6F7-A119196DD6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621" y="1618128"/>
            <a:ext cx="575199" cy="5239871"/>
          </a:xfrm>
          <a:prstGeom prst="rect">
            <a:avLst/>
          </a:prstGeom>
        </p:spPr>
      </p:pic>
      <p:sp>
        <p:nvSpPr>
          <p:cNvPr id="58" name="Rectangle 57">
            <a:extLst>
              <a:ext uri="{FF2B5EF4-FFF2-40B4-BE49-F238E27FC236}">
                <a16:creationId xmlns:a16="http://schemas.microsoft.com/office/drawing/2014/main" id="{3DC019FF-E7F5-8634-35DA-F5DA038869E2}"/>
              </a:ext>
            </a:extLst>
          </p:cNvPr>
          <p:cNvSpPr/>
          <p:nvPr/>
        </p:nvSpPr>
        <p:spPr>
          <a:xfrm>
            <a:off x="693621" y="3090812"/>
            <a:ext cx="575199" cy="80234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C22986D4-63EC-B03C-1E4A-C5F7FB8A94F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021"/>
          <a:stretch>
            <a:fillRect/>
          </a:stretch>
        </p:blipFill>
        <p:spPr>
          <a:xfrm>
            <a:off x="4491318" y="1243207"/>
            <a:ext cx="4186517" cy="5525145"/>
          </a:xfrm>
          <a:prstGeom prst="rect">
            <a:avLst/>
          </a:prstGeom>
          <a:ln w="12700">
            <a:solidFill>
              <a:srgbClr val="FF0000"/>
            </a:solidFill>
          </a:ln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AFC78A68-23D7-0D0C-D9E9-46DB554DF23B}"/>
              </a:ext>
            </a:extLst>
          </p:cNvPr>
          <p:cNvSpPr txBox="1"/>
          <p:nvPr/>
        </p:nvSpPr>
        <p:spPr>
          <a:xfrm>
            <a:off x="8859895" y="1643138"/>
            <a:ext cx="31750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i="1" dirty="0"/>
              <a:t>Boucle qui sert à:</a:t>
            </a:r>
          </a:p>
          <a:p>
            <a:endParaRPr lang="fr-FR" sz="1400" i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i="1" dirty="0"/>
              <a:t>exécuter le script Python de nettoyage métier : suppression des prix nuls ou négatifs, des pièces jointes (images), ou avec un </a:t>
            </a:r>
            <a:r>
              <a:rPr lang="fr-FR" sz="1400" i="1" dirty="0" err="1"/>
              <a:t>sku</a:t>
            </a:r>
            <a:r>
              <a:rPr lang="fr-FR" sz="1400" i="1" dirty="0"/>
              <a:t> manquant (spécifique à la table web).</a:t>
            </a:r>
          </a:p>
          <a:p>
            <a:endParaRPr lang="fr-FR" sz="1400" i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i="1" dirty="0"/>
              <a:t>lancer des tests </a:t>
            </a:r>
            <a:r>
              <a:rPr lang="fr-FR" sz="1400" i="1" dirty="0" err="1"/>
              <a:t>pytest</a:t>
            </a:r>
            <a:r>
              <a:rPr lang="fr-FR" sz="1400" i="1" dirty="0"/>
              <a:t> : absence de prix négatifs ou nuls, absence des pièces jointes et d’identifiant nul dans la table Web </a:t>
            </a:r>
          </a:p>
          <a:p>
            <a:endParaRPr lang="fr-FR" sz="1400" i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i="1" dirty="0"/>
              <a:t>si les tests échouent, le flow est mis en pause.</a:t>
            </a:r>
          </a:p>
          <a:p>
            <a:endParaRPr lang="fr-FR" sz="1400" i="1" dirty="0"/>
          </a:p>
          <a:p>
            <a:endParaRPr lang="fr-FR" sz="1400" i="1" dirty="0"/>
          </a:p>
        </p:txBody>
      </p:sp>
    </p:spTree>
    <p:extLst>
      <p:ext uri="{BB962C8B-B14F-4D97-AF65-F5344CB8AC3E}">
        <p14:creationId xmlns:p14="http://schemas.microsoft.com/office/powerpoint/2010/main" val="28113111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389F9-0AAB-69EF-2588-A33AC899E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3D084C6-5F16-B150-BD6F-858F2CD36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3. TOPOLOGIE </a:t>
            </a:r>
            <a:r>
              <a:rPr lang="fr-FR" dirty="0" err="1"/>
              <a:t>Kestra</a:t>
            </a:r>
            <a:br>
              <a:rPr lang="fr-FR" dirty="0"/>
            </a:br>
            <a:endParaRPr lang="fr-FR" dirty="0"/>
          </a:p>
        </p:txBody>
      </p:sp>
      <p:pic>
        <p:nvPicPr>
          <p:cNvPr id="42" name="Image 41">
            <a:extLst>
              <a:ext uri="{FF2B5EF4-FFF2-40B4-BE49-F238E27FC236}">
                <a16:creationId xmlns:a16="http://schemas.microsoft.com/office/drawing/2014/main" id="{D0CED8CA-E31A-D5AE-D8FE-AEC0CA5172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621" y="1618128"/>
            <a:ext cx="575199" cy="5239871"/>
          </a:xfrm>
          <a:prstGeom prst="rect">
            <a:avLst/>
          </a:prstGeom>
        </p:spPr>
      </p:pic>
      <p:sp>
        <p:nvSpPr>
          <p:cNvPr id="58" name="Rectangle 57">
            <a:extLst>
              <a:ext uri="{FF2B5EF4-FFF2-40B4-BE49-F238E27FC236}">
                <a16:creationId xmlns:a16="http://schemas.microsoft.com/office/drawing/2014/main" id="{7EA319D6-4DCB-C5F8-6DDD-076924E0B8B7}"/>
              </a:ext>
            </a:extLst>
          </p:cNvPr>
          <p:cNvSpPr/>
          <p:nvPr/>
        </p:nvSpPr>
        <p:spPr>
          <a:xfrm>
            <a:off x="693621" y="3876461"/>
            <a:ext cx="575199" cy="80234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42E77024-6A56-379A-7E46-DA21FCB3D5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0901" y="1398491"/>
            <a:ext cx="4110840" cy="5369858"/>
          </a:xfrm>
          <a:prstGeom prst="rect">
            <a:avLst/>
          </a:prstGeom>
          <a:ln w="12700">
            <a:solidFill>
              <a:srgbClr val="FF0000"/>
            </a:solidFill>
          </a:ln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1E743C67-7AE1-DD49-C281-60060708C0F8}"/>
              </a:ext>
            </a:extLst>
          </p:cNvPr>
          <p:cNvSpPr txBox="1"/>
          <p:nvPr/>
        </p:nvSpPr>
        <p:spPr>
          <a:xfrm>
            <a:off x="8859895" y="1643138"/>
            <a:ext cx="317500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i="1" dirty="0"/>
              <a:t>Boucle qui sert à:</a:t>
            </a:r>
          </a:p>
          <a:p>
            <a:endParaRPr lang="fr-FR" sz="1400" i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i="1" dirty="0"/>
              <a:t>exécuter le script Python de fusion des tables: Les tables ERP et web sont jointes via la table de liaison (</a:t>
            </a:r>
            <a:r>
              <a:rPr lang="fr-FR" sz="1400" i="1" dirty="0" err="1"/>
              <a:t>web_erp_joined</a:t>
            </a:r>
            <a:r>
              <a:rPr lang="fr-FR" sz="1400" i="1" dirty="0"/>
              <a:t>), créant un jeu de données unifié produit/vente.</a:t>
            </a:r>
          </a:p>
          <a:p>
            <a:endParaRPr lang="fr-FR" sz="1400" i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i="1" dirty="0"/>
              <a:t>lancer des tests </a:t>
            </a:r>
            <a:r>
              <a:rPr lang="fr-FR" sz="1400" i="1" dirty="0" err="1"/>
              <a:t>pytest</a:t>
            </a:r>
            <a:r>
              <a:rPr lang="fr-FR" sz="1400" i="1" dirty="0"/>
              <a:t> : nombre de lignes de la table web égale au nombre de lignes de la table fusion</a:t>
            </a:r>
          </a:p>
          <a:p>
            <a:pPr marL="285750" indent="-285750">
              <a:buFontTx/>
              <a:buChar char="-"/>
            </a:pPr>
            <a:endParaRPr lang="fr-FR" sz="1400" i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i="1" dirty="0"/>
              <a:t>si les tests échouent, le flow est mis en pause.</a:t>
            </a:r>
          </a:p>
          <a:p>
            <a:endParaRPr lang="fr-FR" sz="1400" i="1" dirty="0"/>
          </a:p>
          <a:p>
            <a:endParaRPr lang="fr-FR" sz="1400" i="1" dirty="0"/>
          </a:p>
        </p:txBody>
      </p:sp>
    </p:spTree>
    <p:extLst>
      <p:ext uri="{BB962C8B-B14F-4D97-AF65-F5344CB8AC3E}">
        <p14:creationId xmlns:p14="http://schemas.microsoft.com/office/powerpoint/2010/main" val="25663061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F85538-306E-9168-279F-C5C915391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B0204E3-F826-5CAC-6E34-813C03858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3. TOPOLOGIE </a:t>
            </a:r>
            <a:r>
              <a:rPr lang="fr-FR" dirty="0" err="1"/>
              <a:t>Kestra</a:t>
            </a:r>
            <a:br>
              <a:rPr lang="fr-FR" dirty="0"/>
            </a:br>
            <a:endParaRPr lang="fr-FR" dirty="0"/>
          </a:p>
        </p:txBody>
      </p:sp>
      <p:pic>
        <p:nvPicPr>
          <p:cNvPr id="42" name="Image 41">
            <a:extLst>
              <a:ext uri="{FF2B5EF4-FFF2-40B4-BE49-F238E27FC236}">
                <a16:creationId xmlns:a16="http://schemas.microsoft.com/office/drawing/2014/main" id="{BE8314FB-4B0C-9532-489D-A8375C047C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621" y="1618128"/>
            <a:ext cx="575199" cy="5239871"/>
          </a:xfrm>
          <a:prstGeom prst="rect">
            <a:avLst/>
          </a:prstGeom>
        </p:spPr>
      </p:pic>
      <p:sp>
        <p:nvSpPr>
          <p:cNvPr id="58" name="Rectangle 57">
            <a:extLst>
              <a:ext uri="{FF2B5EF4-FFF2-40B4-BE49-F238E27FC236}">
                <a16:creationId xmlns:a16="http://schemas.microsoft.com/office/drawing/2014/main" id="{869EF0D9-738C-BA62-935D-7755BF4A7CF8}"/>
              </a:ext>
            </a:extLst>
          </p:cNvPr>
          <p:cNvSpPr/>
          <p:nvPr/>
        </p:nvSpPr>
        <p:spPr>
          <a:xfrm>
            <a:off x="693621" y="4674326"/>
            <a:ext cx="575199" cy="80234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C9D7C44-9562-611E-43E9-9D266697C6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9247" y="1398888"/>
            <a:ext cx="4095248" cy="5349491"/>
          </a:xfrm>
          <a:prstGeom prst="rect">
            <a:avLst/>
          </a:prstGeom>
          <a:ln w="12700">
            <a:solidFill>
              <a:srgbClr val="FF0000"/>
            </a:solidFill>
          </a:ln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11511740-2162-45AA-32ED-300D44F113E1}"/>
              </a:ext>
            </a:extLst>
          </p:cNvPr>
          <p:cNvSpPr txBox="1"/>
          <p:nvPr/>
        </p:nvSpPr>
        <p:spPr>
          <a:xfrm>
            <a:off x="8859895" y="1643138"/>
            <a:ext cx="317500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i="1" dirty="0"/>
              <a:t>Boucle qui sert à:</a:t>
            </a:r>
          </a:p>
          <a:p>
            <a:endParaRPr lang="fr-FR" sz="1400" i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i="1" dirty="0"/>
              <a:t>Exécuter le script Python de calcul du CA: Une table </a:t>
            </a:r>
            <a:r>
              <a:rPr lang="fr-FR" sz="1400" i="1" dirty="0" err="1"/>
              <a:t>revenus_web</a:t>
            </a:r>
            <a:r>
              <a:rPr lang="fr-FR" sz="1400" i="1" dirty="0"/>
              <a:t> calcule le CA par produit (</a:t>
            </a:r>
            <a:r>
              <a:rPr lang="fr-FR" sz="1400" i="1" dirty="0" err="1"/>
              <a:t>price</a:t>
            </a:r>
            <a:r>
              <a:rPr lang="fr-FR" sz="1400" i="1" dirty="0"/>
              <a:t> × </a:t>
            </a:r>
            <a:r>
              <a:rPr lang="fr-FR" sz="1400" i="1" dirty="0" err="1"/>
              <a:t>total_sales</a:t>
            </a:r>
            <a:r>
              <a:rPr lang="fr-FR" sz="1400" i="1" dirty="0"/>
              <a:t>) et le CA global est calculé par agrégation.</a:t>
            </a:r>
          </a:p>
          <a:p>
            <a:endParaRPr lang="fr-FR" sz="1400" i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i="1" dirty="0"/>
              <a:t>lancer des tests </a:t>
            </a:r>
            <a:r>
              <a:rPr lang="fr-FR" sz="1400" i="1" dirty="0" err="1"/>
              <a:t>pytest</a:t>
            </a:r>
            <a:r>
              <a:rPr lang="fr-FR" sz="1400" i="1" dirty="0"/>
              <a:t> : somme du CA de chaque produit égale au CA global</a:t>
            </a:r>
          </a:p>
          <a:p>
            <a:pPr marL="285750" indent="-285750">
              <a:buFontTx/>
              <a:buChar char="-"/>
            </a:pPr>
            <a:endParaRPr lang="fr-FR" sz="1400" i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i="1" dirty="0"/>
              <a:t>si les tests échouent, le flow est mis en pause.</a:t>
            </a:r>
          </a:p>
          <a:p>
            <a:endParaRPr lang="fr-FR" sz="1400" i="1" dirty="0"/>
          </a:p>
          <a:p>
            <a:endParaRPr lang="fr-FR" sz="1400" i="1" dirty="0"/>
          </a:p>
        </p:txBody>
      </p:sp>
    </p:spTree>
    <p:extLst>
      <p:ext uri="{BB962C8B-B14F-4D97-AF65-F5344CB8AC3E}">
        <p14:creationId xmlns:p14="http://schemas.microsoft.com/office/powerpoint/2010/main" val="14071779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B1D680-1CEB-9E20-4797-40B168425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9638CA8-5F43-7208-E68F-1FAE19A1D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3. TOPOLOGIE </a:t>
            </a:r>
            <a:r>
              <a:rPr lang="fr-FR" dirty="0" err="1"/>
              <a:t>Kestra</a:t>
            </a:r>
            <a:br>
              <a:rPr lang="fr-FR" dirty="0"/>
            </a:br>
            <a:endParaRPr lang="fr-FR" dirty="0"/>
          </a:p>
        </p:txBody>
      </p:sp>
      <p:pic>
        <p:nvPicPr>
          <p:cNvPr id="42" name="Image 41">
            <a:extLst>
              <a:ext uri="{FF2B5EF4-FFF2-40B4-BE49-F238E27FC236}">
                <a16:creationId xmlns:a16="http://schemas.microsoft.com/office/drawing/2014/main" id="{28F656A0-68E6-B213-B380-5D41BC3522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621" y="1618128"/>
            <a:ext cx="575199" cy="5239871"/>
          </a:xfrm>
          <a:prstGeom prst="rect">
            <a:avLst/>
          </a:prstGeom>
        </p:spPr>
      </p:pic>
      <p:sp>
        <p:nvSpPr>
          <p:cNvPr id="58" name="Rectangle 57">
            <a:extLst>
              <a:ext uri="{FF2B5EF4-FFF2-40B4-BE49-F238E27FC236}">
                <a16:creationId xmlns:a16="http://schemas.microsoft.com/office/drawing/2014/main" id="{E147880C-8A63-2CBE-D670-EE4C639B1F95}"/>
              </a:ext>
            </a:extLst>
          </p:cNvPr>
          <p:cNvSpPr/>
          <p:nvPr/>
        </p:nvSpPr>
        <p:spPr>
          <a:xfrm>
            <a:off x="693621" y="5472186"/>
            <a:ext cx="575199" cy="9857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DB452580-12F2-21E5-F729-217A6FEC3A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1216" y="1246095"/>
            <a:ext cx="3204418" cy="5441576"/>
          </a:xfrm>
          <a:prstGeom prst="rect">
            <a:avLst/>
          </a:prstGeom>
          <a:ln w="12700">
            <a:solidFill>
              <a:srgbClr val="FF0000"/>
            </a:solidFill>
          </a:ln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57A4E74C-3999-34EF-AAFA-AC36E8626C77}"/>
              </a:ext>
            </a:extLst>
          </p:cNvPr>
          <p:cNvSpPr txBox="1"/>
          <p:nvPr/>
        </p:nvSpPr>
        <p:spPr>
          <a:xfrm>
            <a:off x="8859895" y="1643138"/>
            <a:ext cx="317500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i="1" dirty="0"/>
              <a:t>Deux approches parallèles génèrent des fichiers Excel : l'une via l'extension </a:t>
            </a:r>
            <a:r>
              <a:rPr lang="fr-FR" sz="1400" i="1" dirty="0" err="1"/>
              <a:t>DuckDB</a:t>
            </a:r>
            <a:r>
              <a:rPr lang="fr-FR" sz="1400" i="1" dirty="0"/>
              <a:t> </a:t>
            </a:r>
            <a:r>
              <a:rPr lang="fr-FR" sz="1400" i="1" dirty="0" err="1"/>
              <a:t>excel</a:t>
            </a:r>
            <a:r>
              <a:rPr lang="fr-FR" sz="1400" i="1" dirty="0"/>
              <a:t> (COPY TO), l'autre via pandas/</a:t>
            </a:r>
            <a:r>
              <a:rPr lang="fr-FR" sz="1400" i="1" dirty="0" err="1"/>
              <a:t>openpyxl</a:t>
            </a:r>
            <a:r>
              <a:rPr lang="fr-FR" sz="1400" i="1" dirty="0"/>
              <a:t> pour produire un classeur avec deux feuilles (</a:t>
            </a:r>
            <a:r>
              <a:rPr lang="fr-FR" sz="1400" i="1" dirty="0" err="1"/>
              <a:t>CA_products</a:t>
            </a:r>
            <a:r>
              <a:rPr lang="fr-FR" sz="1400" i="1" dirty="0"/>
              <a:t> et </a:t>
            </a:r>
            <a:r>
              <a:rPr lang="fr-FR" sz="1400" i="1" dirty="0" err="1"/>
              <a:t>CA_global</a:t>
            </a:r>
            <a:r>
              <a:rPr lang="fr-FR" sz="1400" i="1" dirty="0"/>
              <a:t>)</a:t>
            </a:r>
          </a:p>
          <a:p>
            <a:endParaRPr lang="fr-FR" sz="1400" i="1" dirty="0"/>
          </a:p>
          <a:p>
            <a:endParaRPr lang="fr-FR" sz="1400" i="1" dirty="0"/>
          </a:p>
          <a:p>
            <a:r>
              <a:rPr lang="fr-FR" sz="1400" i="1" dirty="0"/>
              <a:t>Boucle qui sert à:</a:t>
            </a:r>
          </a:p>
          <a:p>
            <a:endParaRPr lang="fr-FR" sz="1400" i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i="1" dirty="0"/>
              <a:t>Exécuter le script Python z-score : Un score z est calculé sur le prix pour classer les produits comme "premium" ou non.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1400" i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i="1" dirty="0"/>
              <a:t>lancer des tests </a:t>
            </a:r>
            <a:r>
              <a:rPr lang="fr-FR" sz="1400" i="1" dirty="0" err="1"/>
              <a:t>pytest</a:t>
            </a:r>
            <a:r>
              <a:rPr lang="fr-FR" sz="1400" i="1" dirty="0"/>
              <a:t> : cohérence du z-score (&gt;2) et la catégorie</a:t>
            </a:r>
          </a:p>
          <a:p>
            <a:pPr marL="285750" indent="-285750">
              <a:buFontTx/>
              <a:buChar char="-"/>
            </a:pPr>
            <a:endParaRPr lang="fr-FR" sz="1400" i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i="1" dirty="0"/>
              <a:t>si les tests échouent, le flow est mis en pause.</a:t>
            </a:r>
          </a:p>
          <a:p>
            <a:endParaRPr lang="fr-FR" sz="1400" i="1" dirty="0"/>
          </a:p>
          <a:p>
            <a:endParaRPr lang="fr-FR" sz="1400" i="1" dirty="0"/>
          </a:p>
        </p:txBody>
      </p:sp>
    </p:spTree>
    <p:extLst>
      <p:ext uri="{BB962C8B-B14F-4D97-AF65-F5344CB8AC3E}">
        <p14:creationId xmlns:p14="http://schemas.microsoft.com/office/powerpoint/2010/main" val="35126453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66AF96-AFD8-CD26-DADD-1977B2348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46F397C-7300-E9E5-2A04-601BD2E4F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3. TOPOLOGIE </a:t>
            </a:r>
            <a:r>
              <a:rPr lang="fr-FR" dirty="0" err="1"/>
              <a:t>Kestra</a:t>
            </a:r>
            <a:br>
              <a:rPr lang="fr-FR" dirty="0"/>
            </a:br>
            <a:endParaRPr lang="fr-FR" dirty="0"/>
          </a:p>
        </p:txBody>
      </p:sp>
      <p:pic>
        <p:nvPicPr>
          <p:cNvPr id="42" name="Image 41">
            <a:extLst>
              <a:ext uri="{FF2B5EF4-FFF2-40B4-BE49-F238E27FC236}">
                <a16:creationId xmlns:a16="http://schemas.microsoft.com/office/drawing/2014/main" id="{836D0E96-A6A9-60BF-6D17-796FFCD9F8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621" y="1618128"/>
            <a:ext cx="575199" cy="5239871"/>
          </a:xfrm>
          <a:prstGeom prst="rect">
            <a:avLst/>
          </a:prstGeom>
        </p:spPr>
      </p:pic>
      <p:sp>
        <p:nvSpPr>
          <p:cNvPr id="58" name="Rectangle 57">
            <a:extLst>
              <a:ext uri="{FF2B5EF4-FFF2-40B4-BE49-F238E27FC236}">
                <a16:creationId xmlns:a16="http://schemas.microsoft.com/office/drawing/2014/main" id="{78B473B9-1F75-4AAE-97EA-263BFA5838C8}"/>
              </a:ext>
            </a:extLst>
          </p:cNvPr>
          <p:cNvSpPr/>
          <p:nvPr/>
        </p:nvSpPr>
        <p:spPr>
          <a:xfrm>
            <a:off x="693621" y="6452234"/>
            <a:ext cx="575199" cy="34861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0EBAECF-F8A9-D8C8-DE57-CEE3FF8855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435"/>
          <a:stretch>
            <a:fillRect/>
          </a:stretch>
        </p:blipFill>
        <p:spPr>
          <a:xfrm>
            <a:off x="3272117" y="2106142"/>
            <a:ext cx="5459506" cy="3862502"/>
          </a:xfrm>
          <a:prstGeom prst="rect">
            <a:avLst/>
          </a:prstGeom>
          <a:ln w="12700">
            <a:solidFill>
              <a:srgbClr val="FF0000"/>
            </a:solidFill>
          </a:ln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A9957C58-D7A6-5A9C-681B-DCFC78DA5777}"/>
              </a:ext>
            </a:extLst>
          </p:cNvPr>
          <p:cNvSpPr txBox="1"/>
          <p:nvPr/>
        </p:nvSpPr>
        <p:spPr>
          <a:xfrm>
            <a:off x="9186334" y="2740394"/>
            <a:ext cx="28194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i="1" dirty="0"/>
              <a:t>Le flow exporte enfin deux fichiers CSV séparés : les vins premium et les vins ordinaires.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1400" i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i="1" dirty="0"/>
              <a:t>deux tâches indépendantes exécutées en parallèle</a:t>
            </a:r>
          </a:p>
        </p:txBody>
      </p:sp>
    </p:spTree>
    <p:extLst>
      <p:ext uri="{BB962C8B-B14F-4D97-AF65-F5344CB8AC3E}">
        <p14:creationId xmlns:p14="http://schemas.microsoft.com/office/powerpoint/2010/main" val="35865339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DA461C0-5A93-6ECB-AAE3-E47E29BBB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4. Démonstration </a:t>
            </a:r>
            <a:r>
              <a:rPr lang="fr-FR" dirty="0" err="1"/>
              <a:t>Kestra</a:t>
            </a:r>
            <a:endParaRPr lang="fr-FR" dirty="0"/>
          </a:p>
        </p:txBody>
      </p:sp>
      <p:pic>
        <p:nvPicPr>
          <p:cNvPr id="6" name="Espace réservé du contenu 5">
            <a:hlinkClick r:id="rId2"/>
            <a:extLst>
              <a:ext uri="{FF2B5EF4-FFF2-40B4-BE49-F238E27FC236}">
                <a16:creationId xmlns:a16="http://schemas.microsoft.com/office/drawing/2014/main" id="{53C7123F-579D-11FE-C3D5-DEFC7C1D30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3128" y="2341563"/>
            <a:ext cx="6805743" cy="3633787"/>
          </a:xfrm>
        </p:spPr>
      </p:pic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1497F1F-7CE9-5301-CBED-59FA0A872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22897033-9A55-4DAC-991D-1FF1921C78B7}" type="datetime1">
              <a:rPr lang="fr-FR" smtClean="0"/>
              <a:t>02/10/2026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46992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ED7FC931-858E-2DB7-4048-52FB41ACE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ACEC98BE-FCE2-445F-8146-3A7F8CC3881D}" type="datetime1">
              <a:rPr lang="fr-FR" smtClean="0"/>
              <a:t>02/10/2026</a:t>
            </a:fld>
            <a:endParaRPr lang="en-US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3474F2F-61F5-F692-ADEB-B18AD9569016}"/>
              </a:ext>
            </a:extLst>
          </p:cNvPr>
          <p:cNvSpPr txBox="1"/>
          <p:nvPr/>
        </p:nvSpPr>
        <p:spPr>
          <a:xfrm>
            <a:off x="4978400" y="3190240"/>
            <a:ext cx="329184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b="1" dirty="0">
                <a:solidFill>
                  <a:schemeClr val="bg1"/>
                </a:solidFill>
              </a:rPr>
              <a:t>MERCI</a:t>
            </a:r>
          </a:p>
        </p:txBody>
      </p:sp>
    </p:spTree>
    <p:extLst>
      <p:ext uri="{BB962C8B-B14F-4D97-AF65-F5344CB8AC3E}">
        <p14:creationId xmlns:p14="http://schemas.microsoft.com/office/powerpoint/2010/main" val="2464726542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1798773_TF33552983" id="{8919647C-0055-458C-B827-A2A950DB19BD}" vid="{05B00E4D-3D0B-4DF2-A663-65D33D962579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{E5AA1841-0B6B-420C-B166-ADB295CE9748}TF201209c3-d067-44f9-a26f-c8f216c44313bd85a48a_win32-aaf37d2e3a1e</Template>
  <TotalTime>0</TotalTime>
  <Words>649</Words>
  <Application>Microsoft Office PowerPoint</Application>
  <PresentationFormat>Grand écran</PresentationFormat>
  <Paragraphs>83</Paragraphs>
  <Slides>16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2" baseType="lpstr">
      <vt:lpstr>Arial</vt:lpstr>
      <vt:lpstr>Calibri</vt:lpstr>
      <vt:lpstr>Franklin Gothic Book</vt:lpstr>
      <vt:lpstr>Franklin Gothic Demi</vt:lpstr>
      <vt:lpstr>Wingdings 2</vt:lpstr>
      <vt:lpstr>DividendVTI</vt:lpstr>
      <vt:lpstr>Mettre en place un pipeline d’orchestration des flux</vt:lpstr>
      <vt:lpstr>Sommaire</vt:lpstr>
      <vt:lpstr>1 - Contexte et objectif </vt:lpstr>
      <vt:lpstr>2. Logigramme </vt:lpstr>
      <vt:lpstr>2. Logigramme </vt:lpstr>
      <vt:lpstr>2. Logigramme </vt:lpstr>
      <vt:lpstr>2. Logigramme </vt:lpstr>
      <vt:lpstr>3. TOPOLOGIE Kestra </vt:lpstr>
      <vt:lpstr>3. TOPOLOGIE Kestra </vt:lpstr>
      <vt:lpstr>3. TOPOLOGIE Kestra </vt:lpstr>
      <vt:lpstr>3. TOPOLOGIE Kestra </vt:lpstr>
      <vt:lpstr>3. TOPOLOGIE Kestra </vt:lpstr>
      <vt:lpstr>3. TOPOLOGIE Kestra </vt:lpstr>
      <vt:lpstr>3. TOPOLOGIE Kestra </vt:lpstr>
      <vt:lpstr>4. Démonstration Kestra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Sébastien Ulésie</dc:creator>
  <cp:lastModifiedBy>Sébastien Ulésie</cp:lastModifiedBy>
  <cp:revision>456</cp:revision>
  <dcterms:created xsi:type="dcterms:W3CDTF">2026-04-28T09:18:39Z</dcterms:created>
  <dcterms:modified xsi:type="dcterms:W3CDTF">2026-10-02T16:39:53Z</dcterms:modified>
</cp:coreProperties>
</file>