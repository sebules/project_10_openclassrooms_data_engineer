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8"/>
  </p:notesMasterIdLst>
  <p:handoutMasterIdLst>
    <p:handoutMasterId r:id="rId19"/>
  </p:handoutMasterIdLst>
  <p:sldIdLst>
    <p:sldId id="257" r:id="rId2"/>
    <p:sldId id="261" r:id="rId3"/>
    <p:sldId id="259" r:id="rId4"/>
    <p:sldId id="260" r:id="rId5"/>
    <p:sldId id="369" r:id="rId6"/>
    <p:sldId id="370" r:id="rId7"/>
    <p:sldId id="371" r:id="rId8"/>
    <p:sldId id="344" r:id="rId9"/>
    <p:sldId id="373" r:id="rId10"/>
    <p:sldId id="374" r:id="rId11"/>
    <p:sldId id="375" r:id="rId12"/>
    <p:sldId id="376" r:id="rId13"/>
    <p:sldId id="377" r:id="rId14"/>
    <p:sldId id="378" r:id="rId15"/>
    <p:sldId id="379" r:id="rId16"/>
    <p:sldId id="299" r:id="rId17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5333"/>
    <a:srgbClr val="61D0CE"/>
    <a:srgbClr val="F6A2F8"/>
    <a:srgbClr val="D9F0F0"/>
    <a:srgbClr val="996633"/>
    <a:srgbClr val="CCCC00"/>
    <a:srgbClr val="B3FFD5"/>
    <a:srgbClr val="B3E7FF"/>
    <a:srgbClr val="FAE6B8"/>
    <a:srgbClr val="2DA1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&amp; Objectif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Démonstration </a:t>
          </a:r>
          <a:r>
            <a:rPr lang="fr-FR" dirty="0" err="1"/>
            <a:t>Kestra</a:t>
          </a:r>
          <a:endParaRPr lang="fr-FR" dirty="0"/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Flow </a:t>
          </a:r>
          <a:r>
            <a:rPr lang="fr-FR" dirty="0" err="1"/>
            <a:t>Kestra</a:t>
          </a:r>
          <a:endParaRPr lang="fr-FR" dirty="0"/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Logigramme</a:t>
          </a:r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8/layout/AlternatingHexagons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>
        <a:solidFill>
          <a:srgbClr val="FFC000"/>
        </a:solidFill>
      </dgm:spPr>
      <dgm:t>
        <a:bodyPr/>
        <a:lstStyle/>
        <a:p>
          <a:endParaRPr lang="fr-FR"/>
        </a:p>
      </dgm:t>
    </dgm:pt>
    <dgm:pt modelId="{AC29BA73-9A8E-4DD8-9338-B4E11418CE49}">
      <dgm:prSet phldrT="[Texte]" phldr="0"/>
      <dgm:spPr>
        <a:solidFill>
          <a:srgbClr val="00B050"/>
        </a:solidFill>
      </dgm:spPr>
      <dgm:t>
        <a:bodyPr/>
        <a:lstStyle/>
        <a:p>
          <a:pPr algn="ctr"/>
          <a:r>
            <a:rPr lang="fr-FR" b="1" dirty="0"/>
            <a:t>OBJECTIF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>
        <a:solidFill>
          <a:srgbClr val="FF9900"/>
        </a:solidFill>
      </dgm:spPr>
      <dgm:t>
        <a:bodyPr/>
        <a:lstStyle/>
        <a:p>
          <a:endParaRPr lang="fr-FR"/>
        </a:p>
      </dgm:t>
    </dgm:pt>
    <dgm:pt modelId="{DDD1A813-A5E6-4960-B20A-DEC5A896AAA8}">
      <dgm:prSet phldrT="[Texte]" custT="1"/>
      <dgm:spPr/>
      <dgm:t>
        <a:bodyPr/>
        <a:lstStyle/>
        <a:p>
          <a:pPr algn="l"/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Stéphane de l’entreprise </a:t>
          </a:r>
          <a:r>
            <a:rPr lang="fr-FR" sz="1600" b="1" kern="1200" dirty="0" err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Bottleneck</a:t>
          </a:r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 a réalisé des analyses des données de l’entreprise sous 3 axes: nettoyage des données du CMS et ERP, réconciliation des données pour calculer le chiffre d’affaires, identification des vins premium</a:t>
          </a: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b="1" dirty="0"/>
            <a:t>Automatiser cette chaîne de traitement et d’analyse de données</a:t>
          </a:r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70E376D1-A4CD-42B5-93F4-3F937F8760F9}" type="pres">
      <dgm:prSet presAssocID="{8D05CF17-EFD1-4CB7-B633-3BFB5E6F1D40}" presName="Name0" presStyleCnt="0">
        <dgm:presLayoutVars>
          <dgm:chMax/>
          <dgm:chPref/>
          <dgm:dir/>
          <dgm:animLvl val="lvl"/>
        </dgm:presLayoutVars>
      </dgm:prSet>
      <dgm:spPr/>
    </dgm:pt>
    <dgm:pt modelId="{DAB1C598-7380-4205-A199-304DB9D9AA18}" type="pres">
      <dgm:prSet presAssocID="{637B7BD1-6FE4-4F79-B085-330B55BDE317}" presName="composite" presStyleCnt="0"/>
      <dgm:spPr/>
    </dgm:pt>
    <dgm:pt modelId="{56A13A4E-84D7-4D91-BEDB-90F24C5C496A}" type="pres">
      <dgm:prSet presAssocID="{637B7BD1-6FE4-4F79-B085-330B55BDE317}" presName="Parent1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9B056C53-7419-4F9C-91E4-BA19F0141D87}" type="pres">
      <dgm:prSet presAssocID="{637B7BD1-6FE4-4F79-B085-330B55BDE317}" presName="Childtext1" presStyleLbl="revTx" presStyleIdx="0" presStyleCnt="2">
        <dgm:presLayoutVars>
          <dgm:chMax val="0"/>
          <dgm:chPref val="0"/>
          <dgm:bulletEnabled val="1"/>
        </dgm:presLayoutVars>
      </dgm:prSet>
      <dgm:spPr/>
    </dgm:pt>
    <dgm:pt modelId="{6F53C1AC-6895-430E-BA0D-360B017D4D9E}" type="pres">
      <dgm:prSet presAssocID="{637B7BD1-6FE4-4F79-B085-330B55BDE317}" presName="BalanceSpacing" presStyleCnt="0"/>
      <dgm:spPr/>
    </dgm:pt>
    <dgm:pt modelId="{EDA89EB7-457B-4BA5-82D3-E999EDF663ED}" type="pres">
      <dgm:prSet presAssocID="{637B7BD1-6FE4-4F79-B085-330B55BDE317}" presName="BalanceSpacing1" presStyleCnt="0"/>
      <dgm:spPr/>
    </dgm:pt>
    <dgm:pt modelId="{6999D6AC-DDB9-4FD7-AFBB-DD7E27F8F5BE}" type="pres">
      <dgm:prSet presAssocID="{BAAAB516-174F-4396-83ED-099C68A09F32}" presName="Accent1Text" presStyleLbl="node1" presStyleIdx="1" presStyleCnt="4"/>
      <dgm:spPr/>
    </dgm:pt>
    <dgm:pt modelId="{12C40042-6A22-4C0C-8624-51D90A259334}" type="pres">
      <dgm:prSet presAssocID="{BAAAB516-174F-4396-83ED-099C68A09F32}" presName="spaceBetweenRectangles" presStyleCnt="0"/>
      <dgm:spPr/>
    </dgm:pt>
    <dgm:pt modelId="{E18AD5E0-511D-4DD1-9F6C-A3FEB4015259}" type="pres">
      <dgm:prSet presAssocID="{AC29BA73-9A8E-4DD8-9338-B4E11418CE49}" presName="composite" presStyleCnt="0"/>
      <dgm:spPr/>
    </dgm:pt>
    <dgm:pt modelId="{DC18BF4A-2A0F-46C3-B95A-6DD9B50BD378}" type="pres">
      <dgm:prSet presAssocID="{AC29BA73-9A8E-4DD8-9338-B4E11418CE49}" presName="Parent1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1248949E-B79E-4EED-9628-C52D6386C977}" type="pres">
      <dgm:prSet presAssocID="{AC29BA73-9A8E-4DD8-9338-B4E11418CE49}" presName="Childtext1" presStyleLbl="revTx" presStyleIdx="1" presStyleCnt="2">
        <dgm:presLayoutVars>
          <dgm:chMax val="0"/>
          <dgm:chPref val="0"/>
          <dgm:bulletEnabled val="1"/>
        </dgm:presLayoutVars>
      </dgm:prSet>
      <dgm:spPr/>
    </dgm:pt>
    <dgm:pt modelId="{04B8B441-F20F-4D86-A38D-6BFFF682C23B}" type="pres">
      <dgm:prSet presAssocID="{AC29BA73-9A8E-4DD8-9338-B4E11418CE49}" presName="BalanceSpacing" presStyleCnt="0"/>
      <dgm:spPr/>
    </dgm:pt>
    <dgm:pt modelId="{DFF4F660-0F2C-47B9-9BDF-2EA18224B174}" type="pres">
      <dgm:prSet presAssocID="{AC29BA73-9A8E-4DD8-9338-B4E11418CE49}" presName="BalanceSpacing1" presStyleCnt="0"/>
      <dgm:spPr/>
    </dgm:pt>
    <dgm:pt modelId="{50931873-200F-47FE-9D6F-FC2A93EFCE66}" type="pres">
      <dgm:prSet presAssocID="{536F5F02-EADD-4809-AD98-9B2EB9A00C9A}" presName="Accent1Text" presStyleLbl="node1" presStyleIdx="3" presStyleCnt="4"/>
      <dgm:spPr/>
    </dgm:pt>
  </dgm:ptLst>
  <dgm:cxnLst>
    <dgm:cxn modelId="{DC623A0E-398D-42CD-B596-7E8E6292A830}" type="presOf" srcId="{DDD1A813-A5E6-4960-B20A-DEC5A896AAA8}" destId="{9B056C53-7419-4F9C-91E4-BA19F0141D87}" srcOrd="0" destOrd="0" presId="urn:microsoft.com/office/officeart/2008/layout/AlternatingHexagons"/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D0B4197E-38F3-4303-8784-0C02C3140386}" type="presOf" srcId="{536F5F02-EADD-4809-AD98-9B2EB9A00C9A}" destId="{50931873-200F-47FE-9D6F-FC2A93EFCE66}" srcOrd="0" destOrd="0" presId="urn:microsoft.com/office/officeart/2008/layout/AlternatingHexagons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C77D5FBE-FA3C-4F5D-A191-76D54E9BC433}" type="presOf" srcId="{8D05CF17-EFD1-4CB7-B633-3BFB5E6F1D40}" destId="{70E376D1-A4CD-42B5-93F4-3F937F8760F9}" srcOrd="0" destOrd="0" presId="urn:microsoft.com/office/officeart/2008/layout/AlternatingHexagons"/>
    <dgm:cxn modelId="{D09DC1D5-0FBB-42FC-ADB6-D55D62E31B30}" type="presOf" srcId="{CFF3B573-BAC6-426A-BDAA-76B161A76E5A}" destId="{1248949E-B79E-4EED-9628-C52D6386C977}" srcOrd="0" destOrd="0" presId="urn:microsoft.com/office/officeart/2008/layout/AlternatingHexagons"/>
    <dgm:cxn modelId="{503D3EF4-7711-4570-B979-4C2F3FCCD613}" type="presOf" srcId="{BAAAB516-174F-4396-83ED-099C68A09F32}" destId="{6999D6AC-DDB9-4FD7-AFBB-DD7E27F8F5BE}" srcOrd="0" destOrd="0" presId="urn:microsoft.com/office/officeart/2008/layout/AlternatingHexagons"/>
    <dgm:cxn modelId="{91F6B2FF-BFC6-4DBE-AEF5-D9B36F7F5950}" type="presOf" srcId="{637B7BD1-6FE4-4F79-B085-330B55BDE317}" destId="{56A13A4E-84D7-4D91-BEDB-90F24C5C496A}" srcOrd="0" destOrd="0" presId="urn:microsoft.com/office/officeart/2008/layout/AlternatingHexagons"/>
    <dgm:cxn modelId="{14DBFBFF-624D-4700-AD81-7FBDA7141C78}" type="presOf" srcId="{AC29BA73-9A8E-4DD8-9338-B4E11418CE49}" destId="{DC18BF4A-2A0F-46C3-B95A-6DD9B50BD378}" srcOrd="0" destOrd="0" presId="urn:microsoft.com/office/officeart/2008/layout/AlternatingHexagons"/>
    <dgm:cxn modelId="{0E6669B4-3C05-48BC-A166-2D79458D7DA4}" type="presParOf" srcId="{70E376D1-A4CD-42B5-93F4-3F937F8760F9}" destId="{DAB1C598-7380-4205-A199-304DB9D9AA18}" srcOrd="0" destOrd="0" presId="urn:microsoft.com/office/officeart/2008/layout/AlternatingHexagons"/>
    <dgm:cxn modelId="{9A12199C-B1C9-4AC1-8883-0EF640B172BF}" type="presParOf" srcId="{DAB1C598-7380-4205-A199-304DB9D9AA18}" destId="{56A13A4E-84D7-4D91-BEDB-90F24C5C496A}" srcOrd="0" destOrd="0" presId="urn:microsoft.com/office/officeart/2008/layout/AlternatingHexagons"/>
    <dgm:cxn modelId="{22B74AE0-75F9-4FD2-8BF3-B9A7DA0E0F6F}" type="presParOf" srcId="{DAB1C598-7380-4205-A199-304DB9D9AA18}" destId="{9B056C53-7419-4F9C-91E4-BA19F0141D87}" srcOrd="1" destOrd="0" presId="urn:microsoft.com/office/officeart/2008/layout/AlternatingHexagons"/>
    <dgm:cxn modelId="{FD829948-16CB-49E9-9A04-F11162A84B62}" type="presParOf" srcId="{DAB1C598-7380-4205-A199-304DB9D9AA18}" destId="{6F53C1AC-6895-430E-BA0D-360B017D4D9E}" srcOrd="2" destOrd="0" presId="urn:microsoft.com/office/officeart/2008/layout/AlternatingHexagons"/>
    <dgm:cxn modelId="{F61CFB38-A64A-4445-AA0A-0CC7AA08792D}" type="presParOf" srcId="{DAB1C598-7380-4205-A199-304DB9D9AA18}" destId="{EDA89EB7-457B-4BA5-82D3-E999EDF663ED}" srcOrd="3" destOrd="0" presId="urn:microsoft.com/office/officeart/2008/layout/AlternatingHexagons"/>
    <dgm:cxn modelId="{A0C28BE9-3495-4121-833D-21DC062C9D6C}" type="presParOf" srcId="{DAB1C598-7380-4205-A199-304DB9D9AA18}" destId="{6999D6AC-DDB9-4FD7-AFBB-DD7E27F8F5BE}" srcOrd="4" destOrd="0" presId="urn:microsoft.com/office/officeart/2008/layout/AlternatingHexagons"/>
    <dgm:cxn modelId="{79259858-C7AE-42B5-8EFB-CD3C1697AA9E}" type="presParOf" srcId="{70E376D1-A4CD-42B5-93F4-3F937F8760F9}" destId="{12C40042-6A22-4C0C-8624-51D90A259334}" srcOrd="1" destOrd="0" presId="urn:microsoft.com/office/officeart/2008/layout/AlternatingHexagons"/>
    <dgm:cxn modelId="{8E11024F-AD1D-41E1-A907-6A80C35C9BF0}" type="presParOf" srcId="{70E376D1-A4CD-42B5-93F4-3F937F8760F9}" destId="{E18AD5E0-511D-4DD1-9F6C-A3FEB4015259}" srcOrd="2" destOrd="0" presId="urn:microsoft.com/office/officeart/2008/layout/AlternatingHexagons"/>
    <dgm:cxn modelId="{0A7C8B23-2275-4A7B-8F9D-C13655D6F0CF}" type="presParOf" srcId="{E18AD5E0-511D-4DD1-9F6C-A3FEB4015259}" destId="{DC18BF4A-2A0F-46C3-B95A-6DD9B50BD378}" srcOrd="0" destOrd="0" presId="urn:microsoft.com/office/officeart/2008/layout/AlternatingHexagons"/>
    <dgm:cxn modelId="{3E688AF3-8FE0-4E88-B67B-C656EEADC0E7}" type="presParOf" srcId="{E18AD5E0-511D-4DD1-9F6C-A3FEB4015259}" destId="{1248949E-B79E-4EED-9628-C52D6386C977}" srcOrd="1" destOrd="0" presId="urn:microsoft.com/office/officeart/2008/layout/AlternatingHexagons"/>
    <dgm:cxn modelId="{22FE1075-5BFB-461D-8167-A87972DDC0C4}" type="presParOf" srcId="{E18AD5E0-511D-4DD1-9F6C-A3FEB4015259}" destId="{04B8B441-F20F-4D86-A38D-6BFFF682C23B}" srcOrd="2" destOrd="0" presId="urn:microsoft.com/office/officeart/2008/layout/AlternatingHexagons"/>
    <dgm:cxn modelId="{313F630A-6343-46BC-BE06-2F90BC97D0FB}" type="presParOf" srcId="{E18AD5E0-511D-4DD1-9F6C-A3FEB4015259}" destId="{DFF4F660-0F2C-47B9-9BDF-2EA18224B174}" srcOrd="3" destOrd="0" presId="urn:microsoft.com/office/officeart/2008/layout/AlternatingHexagons"/>
    <dgm:cxn modelId="{455D0DEA-5E93-4BB9-B426-06DF78477668}" type="presParOf" srcId="{E18AD5E0-511D-4DD1-9F6C-A3FEB4015259}" destId="{50931873-200F-47FE-9D6F-FC2A93EFCE66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4014"/>
          <a:ext cx="11348215" cy="10951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/>
            <a:t>1- Contexte &amp; Objectif</a:t>
          </a:r>
        </a:p>
      </dsp:txBody>
      <dsp:txXfrm>
        <a:off x="53459" y="57473"/>
        <a:ext cx="11241297" cy="988201"/>
      </dsp:txXfrm>
    </dsp:sp>
    <dsp:sp modelId="{90650EEF-1F9D-463E-A867-D4AB9F2E38B6}">
      <dsp:nvSpPr>
        <dsp:cNvPr id="0" name=""/>
        <dsp:cNvSpPr/>
      </dsp:nvSpPr>
      <dsp:spPr>
        <a:xfrm>
          <a:off x="0" y="1237374"/>
          <a:ext cx="11348215" cy="109511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b="0" kern="1200" dirty="0"/>
            <a:t>2- Logigramme</a:t>
          </a:r>
        </a:p>
      </dsp:txBody>
      <dsp:txXfrm>
        <a:off x="53459" y="1290833"/>
        <a:ext cx="11241297" cy="988201"/>
      </dsp:txXfrm>
    </dsp:sp>
    <dsp:sp modelId="{C0F2F60F-49A7-486C-BA84-7742A146D8C7}">
      <dsp:nvSpPr>
        <dsp:cNvPr id="0" name=""/>
        <dsp:cNvSpPr/>
      </dsp:nvSpPr>
      <dsp:spPr>
        <a:xfrm>
          <a:off x="0" y="2470734"/>
          <a:ext cx="11348215" cy="1095119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/>
            <a:t>3- Flow </a:t>
          </a:r>
          <a:r>
            <a:rPr lang="fr-FR" sz="4800" kern="1200" dirty="0" err="1"/>
            <a:t>Kestra</a:t>
          </a:r>
          <a:endParaRPr lang="fr-FR" sz="4800" kern="1200" dirty="0"/>
        </a:p>
      </dsp:txBody>
      <dsp:txXfrm>
        <a:off x="53459" y="2524193"/>
        <a:ext cx="11241297" cy="988201"/>
      </dsp:txXfrm>
    </dsp:sp>
    <dsp:sp modelId="{188E501D-B60D-4714-8E70-1CD5D6D0CD0B}">
      <dsp:nvSpPr>
        <dsp:cNvPr id="0" name=""/>
        <dsp:cNvSpPr/>
      </dsp:nvSpPr>
      <dsp:spPr>
        <a:xfrm>
          <a:off x="0" y="3704094"/>
          <a:ext cx="11348215" cy="109511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/>
            <a:t>4- Démonstration </a:t>
          </a:r>
          <a:r>
            <a:rPr lang="fr-FR" sz="4800" kern="1200" dirty="0" err="1"/>
            <a:t>Kestra</a:t>
          </a:r>
          <a:endParaRPr lang="fr-FR" sz="4800" kern="1200" dirty="0"/>
        </a:p>
      </dsp:txBody>
      <dsp:txXfrm>
        <a:off x="53459" y="3757553"/>
        <a:ext cx="11241297" cy="9882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A13A4E-84D7-4D91-BEDB-90F24C5C496A}">
      <dsp:nvSpPr>
        <dsp:cNvPr id="0" name=""/>
        <dsp:cNvSpPr/>
      </dsp:nvSpPr>
      <dsp:spPr>
        <a:xfrm rot="5400000">
          <a:off x="4020074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CONTEXTE</a:t>
          </a:r>
        </a:p>
      </dsp:txBody>
      <dsp:txXfrm rot="-5400000">
        <a:off x="4549034" y="1469064"/>
        <a:ext cx="1579300" cy="1815287"/>
      </dsp:txXfrm>
    </dsp:sp>
    <dsp:sp modelId="{9B056C53-7419-4F9C-91E4-BA19F0141D87}">
      <dsp:nvSpPr>
        <dsp:cNvPr id="0" name=""/>
        <dsp:cNvSpPr/>
      </dsp:nvSpPr>
      <dsp:spPr>
        <a:xfrm>
          <a:off x="6555499" y="1585541"/>
          <a:ext cx="294313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Stéphane de l’entreprise </a:t>
          </a:r>
          <a:r>
            <a:rPr lang="fr-FR" sz="1600" b="1" kern="1200" dirty="0" err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Bottleneck</a:t>
          </a:r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 a réalisé des analyses des données de l’entreprise sous 3 axes: nettoyage des données du CMS et ERP, réconciliation des données pour calculer le chiffre d’affaires, identification des vins premium</a:t>
          </a:r>
        </a:p>
      </dsp:txBody>
      <dsp:txXfrm>
        <a:off x="6555499" y="1585541"/>
        <a:ext cx="2943139" cy="1582333"/>
      </dsp:txXfrm>
    </dsp:sp>
    <dsp:sp modelId="{6999D6AC-DDB9-4FD7-AFBB-DD7E27F8F5BE}">
      <dsp:nvSpPr>
        <dsp:cNvPr id="0" name=""/>
        <dsp:cNvSpPr/>
      </dsp:nvSpPr>
      <dsp:spPr>
        <a:xfrm rot="5400000">
          <a:off x="1542140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C0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2071100" y="1469064"/>
        <a:ext cx="1579300" cy="1815287"/>
      </dsp:txXfrm>
    </dsp:sp>
    <dsp:sp modelId="{DC18BF4A-2A0F-46C3-B95A-6DD9B50BD378}">
      <dsp:nvSpPr>
        <dsp:cNvPr id="0" name=""/>
        <dsp:cNvSpPr/>
      </dsp:nvSpPr>
      <dsp:spPr>
        <a:xfrm rot="5400000">
          <a:off x="2776360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00B05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OBJECTIF</a:t>
          </a:r>
        </a:p>
      </dsp:txBody>
      <dsp:txXfrm rot="-5400000">
        <a:off x="3305320" y="3707537"/>
        <a:ext cx="1579300" cy="1815287"/>
      </dsp:txXfrm>
    </dsp:sp>
    <dsp:sp modelId="{1248949E-B79E-4EED-9628-C52D6386C977}">
      <dsp:nvSpPr>
        <dsp:cNvPr id="0" name=""/>
        <dsp:cNvSpPr/>
      </dsp:nvSpPr>
      <dsp:spPr>
        <a:xfrm>
          <a:off x="4640" y="3824014"/>
          <a:ext cx="284819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b="1" kern="1200" dirty="0"/>
            <a:t>Automatiser cette chaîne de traitement et d’analyse de données</a:t>
          </a:r>
        </a:p>
      </dsp:txBody>
      <dsp:txXfrm>
        <a:off x="4640" y="3824014"/>
        <a:ext cx="2848199" cy="1582333"/>
      </dsp:txXfrm>
    </dsp:sp>
    <dsp:sp modelId="{50931873-200F-47FE-9D6F-FC2A93EFCE66}">
      <dsp:nvSpPr>
        <dsp:cNvPr id="0" name=""/>
        <dsp:cNvSpPr/>
      </dsp:nvSpPr>
      <dsp:spPr>
        <a:xfrm rot="5400000">
          <a:off x="5254293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99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5783253" y="3707537"/>
        <a:ext cx="1579300" cy="18152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03/10/2026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sebules.github.io/Project_10_OpenClassrooms_Data_Engineer/Diagramme.drawio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Mettre en place un pipeline d’orchestration des flux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2671524"/>
            <a:ext cx="10993546" cy="468233"/>
          </a:xfrm>
        </p:spPr>
        <p:txBody>
          <a:bodyPr rtlCol="0">
            <a:normAutofit fontScale="85000" lnSpcReduction="20000"/>
          </a:bodyPr>
          <a:lstStyle/>
          <a:p>
            <a:pPr rtl="0"/>
            <a:endParaRPr lang="fr" sz="900" dirty="0"/>
          </a:p>
          <a:p>
            <a:pPr rtl="0"/>
            <a:r>
              <a:rPr lang="fr" sz="1300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Kestra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DuckDB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  <p:sp>
        <p:nvSpPr>
          <p:cNvPr id="5" name="Shape 11">
            <a:extLst>
              <a:ext uri="{FF2B5EF4-FFF2-40B4-BE49-F238E27FC236}">
                <a16:creationId xmlns:a16="http://schemas.microsoft.com/office/drawing/2014/main" id="{F4ABF44D-AF35-3FF3-5241-42BC10644812}"/>
              </a:ext>
            </a:extLst>
          </p:cNvPr>
          <p:cNvSpPr/>
          <p:nvPr/>
        </p:nvSpPr>
        <p:spPr>
          <a:xfrm>
            <a:off x="9911130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FFC000"/>
          </a:solidFill>
          <a:ln/>
        </p:spPr>
        <p:txBody>
          <a:bodyPr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SQL/Python</a:t>
            </a:r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9296674"/>
              </p:ext>
            </p:extLst>
          </p:nvPr>
        </p:nvGraphicFramePr>
        <p:xfrm>
          <a:off x="581192" y="198581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03/10/2026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7388892"/>
              </p:ext>
            </p:extLst>
          </p:nvPr>
        </p:nvGraphicFramePr>
        <p:xfrm>
          <a:off x="1030794" y="833616"/>
          <a:ext cx="9503279" cy="6991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1 - Contexte et objectif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03/10/2026</a:t>
            </a:fld>
            <a:endParaRPr lang="en-US" dirty="0"/>
          </a:p>
        </p:txBody>
      </p:sp>
      <p:pic>
        <p:nvPicPr>
          <p:cNvPr id="7" name="Image 6">
            <a:hlinkClick r:id="rId2"/>
            <a:extLst>
              <a:ext uri="{FF2B5EF4-FFF2-40B4-BE49-F238E27FC236}">
                <a16:creationId xmlns:a16="http://schemas.microsoft.com/office/drawing/2014/main" id="{A140C5AC-CA73-578E-21B8-C330419506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2EBF0-1925-EF88-AE7E-07C45578A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116D14-AF4E-AAC7-1FF2-1FFDA6BA0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4FEDF3-8690-12FE-DC16-BDF39EF8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03/10/2026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7FC02A8-E266-8C83-832C-2AB66F280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0DEA08B3-4F66-4B4F-AC11-ACE6C4BBD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-1" r="60931" b="65465"/>
          <a:stretch>
            <a:fillRect/>
          </a:stretch>
        </p:blipFill>
        <p:spPr>
          <a:xfrm>
            <a:off x="4000333" y="576507"/>
            <a:ext cx="3944787" cy="6263332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C4520A2-00AB-3ED1-A3F7-829D28AAF762}"/>
              </a:ext>
            </a:extLst>
          </p:cNvPr>
          <p:cNvSpPr/>
          <p:nvPr/>
        </p:nvSpPr>
        <p:spPr>
          <a:xfrm>
            <a:off x="413684" y="1559324"/>
            <a:ext cx="1008716" cy="1869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7360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6DEE0-4125-FAE8-2E4A-7B565DD8D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5D7B1E-0A02-027A-76BD-27842DC71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BC607AB-779F-46FD-AF02-746C684BC1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03/10/2026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80D0591-B988-B95F-CC2F-94F12DB11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5A9B01-00E9-0D83-015F-5E1BE12B2EA6}"/>
              </a:ext>
            </a:extLst>
          </p:cNvPr>
          <p:cNvSpPr/>
          <p:nvPr/>
        </p:nvSpPr>
        <p:spPr>
          <a:xfrm>
            <a:off x="413685" y="3428453"/>
            <a:ext cx="2197436" cy="1377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A014D0D-6A3D-8114-C223-D6FF2657B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574" r="30026" b="38828"/>
          <a:stretch>
            <a:fillRect/>
          </a:stretch>
        </p:blipFill>
        <p:spPr>
          <a:xfrm>
            <a:off x="3527591" y="1296516"/>
            <a:ext cx="7455369" cy="5090160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23693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1AE6A-F67B-712E-42B0-0A519EDC3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EE07B0-7B93-B181-9734-C235B2EBC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B733A1-42E8-14AF-65F1-19F8B929DE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03/10/2026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24B6B19-4AA9-D29F-ED28-151B9AF1B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296A225-DE6C-04AF-D80A-EBDDB414CB88}"/>
              </a:ext>
            </a:extLst>
          </p:cNvPr>
          <p:cNvSpPr/>
          <p:nvPr/>
        </p:nvSpPr>
        <p:spPr>
          <a:xfrm>
            <a:off x="925487" y="4778616"/>
            <a:ext cx="2409409" cy="19859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AFEC35E-CDE4-BB26-653C-92B6D63BC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24" t="60985"/>
          <a:stretch>
            <a:fillRect/>
          </a:stretch>
        </p:blipFill>
        <p:spPr>
          <a:xfrm>
            <a:off x="4150659" y="691264"/>
            <a:ext cx="7115853" cy="6097775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001447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84ED0F-FEE1-6287-7A99-C6369609A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EBDE3FF1-1312-315D-6972-F0D6B7413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pic>
        <p:nvPicPr>
          <p:cNvPr id="57" name="Image 56">
            <a:extLst>
              <a:ext uri="{FF2B5EF4-FFF2-40B4-BE49-F238E27FC236}">
                <a16:creationId xmlns:a16="http://schemas.microsoft.com/office/drawing/2014/main" id="{81FBA07D-ECEF-72D0-2E13-BD72A225C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694" y="1463266"/>
            <a:ext cx="4526884" cy="5394733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F00DC422-5E1E-213B-AA64-55273411CD07}"/>
              </a:ext>
            </a:extLst>
          </p:cNvPr>
          <p:cNvSpPr/>
          <p:nvPr/>
        </p:nvSpPr>
        <p:spPr>
          <a:xfrm>
            <a:off x="693621" y="1618128"/>
            <a:ext cx="575199" cy="7037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1D8AB8C-7E9A-8839-48C3-B8E3A6A7EF7D}"/>
              </a:ext>
            </a:extLst>
          </p:cNvPr>
          <p:cNvSpPr txBox="1"/>
          <p:nvPr/>
        </p:nvSpPr>
        <p:spPr>
          <a:xfrm>
            <a:off x="8805334" y="2060249"/>
            <a:ext cx="3234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Permet l'exécution automatique du workflow tous les 15 du mois à 9h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245A31-5FE6-3BCF-F7E3-20A2F7B9828C}"/>
              </a:ext>
            </a:extLst>
          </p:cNvPr>
          <p:cNvSpPr txBox="1"/>
          <p:nvPr/>
        </p:nvSpPr>
        <p:spPr>
          <a:xfrm>
            <a:off x="8805334" y="3789662"/>
            <a:ext cx="323426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Trois fichiers Excel sont téléchargés depuis GitHub : les données ERP (Fichier_erp.xlsx), un fichier de liaison entre systèmes (fichier_liaison.xlsx) et les données web (Fichier_web.xlsx).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DA5C7A5-0573-38BC-A100-A0871A5D68D7}"/>
              </a:ext>
            </a:extLst>
          </p:cNvPr>
          <p:cNvSpPr txBox="1"/>
          <p:nvPr/>
        </p:nvSpPr>
        <p:spPr>
          <a:xfrm>
            <a:off x="8805334" y="5580630"/>
            <a:ext cx="323426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Un script Python charge ces trois fichiers dans une base </a:t>
            </a:r>
            <a:r>
              <a:rPr lang="fr-FR" sz="1400" i="1" dirty="0" err="1"/>
              <a:t>DuckDB</a:t>
            </a:r>
            <a:r>
              <a:rPr lang="fr-FR" sz="1400" i="1" dirty="0"/>
              <a:t> (</a:t>
            </a:r>
            <a:r>
              <a:rPr lang="fr-FR" sz="1400" i="1" dirty="0" err="1"/>
              <a:t>bottleneck.db</a:t>
            </a:r>
            <a:r>
              <a:rPr lang="fr-FR" sz="1400" i="1" dirty="0"/>
              <a:t>), créant les tables </a:t>
            </a:r>
            <a:r>
              <a:rPr lang="fr-FR" sz="1400" i="1" dirty="0" err="1"/>
              <a:t>erp_export_data</a:t>
            </a:r>
            <a:r>
              <a:rPr lang="fr-FR" sz="1400" i="1" dirty="0"/>
              <a:t>, </a:t>
            </a:r>
            <a:r>
              <a:rPr lang="fr-FR" sz="1400" i="1" dirty="0" err="1"/>
              <a:t>web_export_data</a:t>
            </a:r>
            <a:r>
              <a:rPr lang="fr-FR" sz="1400" i="1" dirty="0"/>
              <a:t> et </a:t>
            </a:r>
            <a:r>
              <a:rPr lang="fr-FR" sz="1400" i="1" dirty="0" err="1"/>
              <a:t>liaison_export_data</a:t>
            </a:r>
            <a:r>
              <a:rPr lang="fr-FR" sz="1400" i="1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115421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4578-351E-C532-93BD-C697A5E6F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73B99E-7893-A9CF-BD7E-D90091FEC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AD08D421-563D-36A1-7998-0CB97FB30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62DEA550-6CF3-941C-3550-6FB406BE4FF0}"/>
              </a:ext>
            </a:extLst>
          </p:cNvPr>
          <p:cNvSpPr/>
          <p:nvPr/>
        </p:nvSpPr>
        <p:spPr>
          <a:xfrm>
            <a:off x="693621" y="2308409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5DBFD9D-5D3F-4EEB-A964-D27BF1260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509" y="1425387"/>
            <a:ext cx="4145319" cy="5432612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5A964B1F-601E-AEFA-FB05-F8FC563A1B27}"/>
              </a:ext>
            </a:extLst>
          </p:cNvPr>
          <p:cNvSpPr txBox="1"/>
          <p:nvPr/>
        </p:nvSpPr>
        <p:spPr>
          <a:xfrm>
            <a:off x="8859895" y="1643138"/>
            <a:ext cx="317500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/>
              <a:t>Boucle qui sert à: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exécuter le script Python de nettoyage générique : suppression des colonnes/lignes vides, dédoublonnage, conversion de formats.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lancer des tests </a:t>
            </a:r>
            <a:r>
              <a:rPr lang="fr-FR" sz="1400" i="1" dirty="0" err="1"/>
              <a:t>pytest</a:t>
            </a:r>
            <a:r>
              <a:rPr lang="fr-FR" sz="1400" i="1" dirty="0"/>
              <a:t> : absence de colonnes nulles, absence de lignes nulles, absence de lignes en doublons, vérification de conversion de formats de données (dates au format DATE, prix au format NUMERIQUE…)</a:t>
            </a:r>
          </a:p>
          <a:p>
            <a:pPr marL="285750" indent="-285750">
              <a:buFontTx/>
              <a:buChar char="-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si les tests échouent, le flow est mis en pause.</a:t>
            </a:r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3780996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DE23A-B53C-3411-F0EF-9891CA39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E58F2D-A5F7-D609-0C0C-B93ECD492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7F98CA5A-D794-D025-B6F7-A119196DD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3DC019FF-E7F5-8634-35DA-F5DA038869E2}"/>
              </a:ext>
            </a:extLst>
          </p:cNvPr>
          <p:cNvSpPr/>
          <p:nvPr/>
        </p:nvSpPr>
        <p:spPr>
          <a:xfrm>
            <a:off x="693621" y="3090812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22986D4-63EC-B03C-1E4A-C5F7FB8A94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21"/>
          <a:stretch>
            <a:fillRect/>
          </a:stretch>
        </p:blipFill>
        <p:spPr>
          <a:xfrm>
            <a:off x="4491318" y="1243207"/>
            <a:ext cx="4186517" cy="5525145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AFC78A68-23D7-0D0C-D9E9-46DB554DF23B}"/>
              </a:ext>
            </a:extLst>
          </p:cNvPr>
          <p:cNvSpPr txBox="1"/>
          <p:nvPr/>
        </p:nvSpPr>
        <p:spPr>
          <a:xfrm>
            <a:off x="8859895" y="1643138"/>
            <a:ext cx="3175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/>
              <a:t>Boucle qui sert à: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exécuter le script Python de nettoyage métier : suppression des prix nuls ou négatifs, des pièces jointes (images), ou avec un </a:t>
            </a:r>
            <a:r>
              <a:rPr lang="fr-FR" sz="1400" i="1" dirty="0" err="1"/>
              <a:t>sku</a:t>
            </a:r>
            <a:r>
              <a:rPr lang="fr-FR" sz="1400" i="1" dirty="0"/>
              <a:t> manquant (spécifique à la table web).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lancer des tests </a:t>
            </a:r>
            <a:r>
              <a:rPr lang="fr-FR" sz="1400" i="1" dirty="0" err="1"/>
              <a:t>pytest</a:t>
            </a:r>
            <a:r>
              <a:rPr lang="fr-FR" sz="1400" i="1" dirty="0"/>
              <a:t> : absence de prix négatifs ou nuls, absence des pièces jointes et d’identifiant nul dans la table Web 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si les tests échouent, le flow est mis en pause.</a:t>
            </a:r>
          </a:p>
          <a:p>
            <a:endParaRPr lang="fr-FR" sz="1400" i="1" dirty="0"/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2811311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389F9-0AAB-69EF-2588-A33AC899E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D084C6-5F16-B150-BD6F-858F2CD36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D0CED8CA-E31A-D5AE-D8FE-AEC0CA517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7EA319D6-4DCB-C5F8-6DDD-076924E0B8B7}"/>
              </a:ext>
            </a:extLst>
          </p:cNvPr>
          <p:cNvSpPr/>
          <p:nvPr/>
        </p:nvSpPr>
        <p:spPr>
          <a:xfrm>
            <a:off x="693621" y="3876461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2E77024-6A56-379A-7E46-DA21FCB3D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901" y="1398491"/>
            <a:ext cx="4110840" cy="5369858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1E743C67-7AE1-DD49-C281-60060708C0F8}"/>
              </a:ext>
            </a:extLst>
          </p:cNvPr>
          <p:cNvSpPr txBox="1"/>
          <p:nvPr/>
        </p:nvSpPr>
        <p:spPr>
          <a:xfrm>
            <a:off x="8859895" y="1643138"/>
            <a:ext cx="3175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/>
              <a:t>Boucle qui sert à: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exécuter le script Python de fusion des tables: Les tables ERP et web sont jointes via la table de liaison (</a:t>
            </a:r>
            <a:r>
              <a:rPr lang="fr-FR" sz="1400" i="1" dirty="0" err="1"/>
              <a:t>web_erp_joined</a:t>
            </a:r>
            <a:r>
              <a:rPr lang="fr-FR" sz="1400" i="1" dirty="0"/>
              <a:t>), créant un jeu de données unifié produit/vente.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lancer des tests </a:t>
            </a:r>
            <a:r>
              <a:rPr lang="fr-FR" sz="1400" i="1" dirty="0" err="1"/>
              <a:t>pytest</a:t>
            </a:r>
            <a:r>
              <a:rPr lang="fr-FR" sz="1400" i="1" dirty="0"/>
              <a:t> : nombre de lignes de la table web égale au nombre de lignes de la table fusion</a:t>
            </a:r>
          </a:p>
          <a:p>
            <a:pPr marL="285750" indent="-285750">
              <a:buFontTx/>
              <a:buChar char="-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si les tests échouent, le flow est mis en pause.</a:t>
            </a:r>
          </a:p>
          <a:p>
            <a:endParaRPr lang="fr-FR" sz="1400" i="1" dirty="0"/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2566306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85538-306E-9168-279F-C5C915391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0204E3-F826-5CAC-6E34-813C03858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BE8314FB-4B0C-9532-489D-A8375C047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869EF0D9-738C-BA62-935D-7755BF4A7CF8}"/>
              </a:ext>
            </a:extLst>
          </p:cNvPr>
          <p:cNvSpPr/>
          <p:nvPr/>
        </p:nvSpPr>
        <p:spPr>
          <a:xfrm>
            <a:off x="693621" y="4674326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C9D7C44-9562-611E-43E9-9D266697C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247" y="1398888"/>
            <a:ext cx="4095248" cy="5349491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11511740-2162-45AA-32ED-300D44F113E1}"/>
              </a:ext>
            </a:extLst>
          </p:cNvPr>
          <p:cNvSpPr txBox="1"/>
          <p:nvPr/>
        </p:nvSpPr>
        <p:spPr>
          <a:xfrm>
            <a:off x="8859895" y="1643138"/>
            <a:ext cx="3175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/>
              <a:t>Boucle qui sert à: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Exécuter le script Python de calcul du CA: Une table </a:t>
            </a:r>
            <a:r>
              <a:rPr lang="fr-FR" sz="1400" i="1" dirty="0" err="1"/>
              <a:t>revenus_web</a:t>
            </a:r>
            <a:r>
              <a:rPr lang="fr-FR" sz="1400" i="1" dirty="0"/>
              <a:t> calcule le CA par produit (</a:t>
            </a:r>
            <a:r>
              <a:rPr lang="fr-FR" sz="1400" i="1" dirty="0" err="1"/>
              <a:t>price</a:t>
            </a:r>
            <a:r>
              <a:rPr lang="fr-FR" sz="1400" i="1" dirty="0"/>
              <a:t> × </a:t>
            </a:r>
            <a:r>
              <a:rPr lang="fr-FR" sz="1400" i="1" dirty="0" err="1"/>
              <a:t>total_sales</a:t>
            </a:r>
            <a:r>
              <a:rPr lang="fr-FR" sz="1400" i="1" dirty="0"/>
              <a:t>) et le CA global est calculé par agrégation.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lancer des tests </a:t>
            </a:r>
            <a:r>
              <a:rPr lang="fr-FR" sz="1400" i="1" dirty="0" err="1"/>
              <a:t>pytest</a:t>
            </a:r>
            <a:r>
              <a:rPr lang="fr-FR" sz="1400" i="1" dirty="0"/>
              <a:t> : somme du CA de chaque produit égale au CA global</a:t>
            </a:r>
          </a:p>
          <a:p>
            <a:pPr marL="285750" indent="-285750">
              <a:buFontTx/>
              <a:buChar char="-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si les tests échouent, le flow est mis en pause.</a:t>
            </a:r>
          </a:p>
          <a:p>
            <a:endParaRPr lang="fr-FR" sz="1400" i="1" dirty="0"/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14071779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D680-1CEB-9E20-4797-40B168425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638CA8-5F43-7208-E68F-1FAE19A1D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28F656A0-68E6-B213-B380-5D41BC352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E147880C-8A63-2CBE-D670-EE4C639B1F95}"/>
              </a:ext>
            </a:extLst>
          </p:cNvPr>
          <p:cNvSpPr/>
          <p:nvPr/>
        </p:nvSpPr>
        <p:spPr>
          <a:xfrm>
            <a:off x="693621" y="5472186"/>
            <a:ext cx="575199" cy="9857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B452580-12F2-21E5-F729-217A6FEC3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216" y="1246095"/>
            <a:ext cx="3204418" cy="5441576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57A4E74C-3999-34EF-AAFA-AC36E8626C77}"/>
              </a:ext>
            </a:extLst>
          </p:cNvPr>
          <p:cNvSpPr txBox="1"/>
          <p:nvPr/>
        </p:nvSpPr>
        <p:spPr>
          <a:xfrm>
            <a:off x="8859895" y="1643138"/>
            <a:ext cx="31750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/>
              <a:t>Deux approches parallèles génèrent des fichiers Excel : l'une via l'extension </a:t>
            </a:r>
            <a:r>
              <a:rPr lang="fr-FR" sz="1400" i="1" dirty="0" err="1"/>
              <a:t>DuckDB</a:t>
            </a:r>
            <a:r>
              <a:rPr lang="fr-FR" sz="1400" i="1" dirty="0"/>
              <a:t> </a:t>
            </a:r>
            <a:r>
              <a:rPr lang="fr-FR" sz="1400" i="1" dirty="0" err="1"/>
              <a:t>excel</a:t>
            </a:r>
            <a:r>
              <a:rPr lang="fr-FR" sz="1400" i="1" dirty="0"/>
              <a:t> (COPY TO), l'autre via pandas/</a:t>
            </a:r>
            <a:r>
              <a:rPr lang="fr-FR" sz="1400" i="1" dirty="0" err="1"/>
              <a:t>openpyxl</a:t>
            </a:r>
            <a:r>
              <a:rPr lang="fr-FR" sz="1400" i="1" dirty="0"/>
              <a:t> pour produire un classeur avec deux feuilles (</a:t>
            </a:r>
            <a:r>
              <a:rPr lang="fr-FR" sz="1400" i="1" dirty="0" err="1"/>
              <a:t>CA_products</a:t>
            </a:r>
            <a:r>
              <a:rPr lang="fr-FR" sz="1400" i="1" dirty="0"/>
              <a:t> et </a:t>
            </a:r>
            <a:r>
              <a:rPr lang="fr-FR" sz="1400" i="1" dirty="0" err="1"/>
              <a:t>CA_global</a:t>
            </a:r>
            <a:r>
              <a:rPr lang="fr-FR" sz="1400" i="1" dirty="0"/>
              <a:t>)</a:t>
            </a:r>
          </a:p>
          <a:p>
            <a:endParaRPr lang="fr-FR" sz="1400" i="1" dirty="0"/>
          </a:p>
          <a:p>
            <a:endParaRPr lang="fr-FR" sz="1400" i="1" dirty="0"/>
          </a:p>
          <a:p>
            <a:r>
              <a:rPr lang="fr-FR" sz="1400" i="1" dirty="0"/>
              <a:t>Boucle qui sert à: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Exécuter le script Python z-score : Un score z est calculé sur le prix pour classer les produits comme "premium" ou non.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lancer des tests </a:t>
            </a:r>
            <a:r>
              <a:rPr lang="fr-FR" sz="1400" i="1" dirty="0" err="1"/>
              <a:t>pytest</a:t>
            </a:r>
            <a:r>
              <a:rPr lang="fr-FR" sz="1400" i="1" dirty="0"/>
              <a:t> : cohérence du z-score (&gt;2) et la catégorie</a:t>
            </a:r>
          </a:p>
          <a:p>
            <a:pPr marL="285750" indent="-285750">
              <a:buFontTx/>
              <a:buChar char="-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si les tests échouent, le flow est mis en pause.</a:t>
            </a:r>
          </a:p>
          <a:p>
            <a:endParaRPr lang="fr-FR" sz="1400" i="1" dirty="0"/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35126453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6AF96-AFD8-CD26-DADD-1977B2348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6F397C-7300-E9E5-2A04-601BD2E4F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836D0E96-A6A9-60BF-6D17-796FFCD9F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78B473B9-1F75-4AAE-97EA-263BFA5838C8}"/>
              </a:ext>
            </a:extLst>
          </p:cNvPr>
          <p:cNvSpPr/>
          <p:nvPr/>
        </p:nvSpPr>
        <p:spPr>
          <a:xfrm>
            <a:off x="693621" y="6452234"/>
            <a:ext cx="575199" cy="3486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EBAECF-F8A9-D8C8-DE57-CEE3FF8855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35"/>
          <a:stretch>
            <a:fillRect/>
          </a:stretch>
        </p:blipFill>
        <p:spPr>
          <a:xfrm>
            <a:off x="3272117" y="2106142"/>
            <a:ext cx="5459506" cy="3862502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A9957C58-D7A6-5A9C-681B-DCFC78DA5777}"/>
              </a:ext>
            </a:extLst>
          </p:cNvPr>
          <p:cNvSpPr txBox="1"/>
          <p:nvPr/>
        </p:nvSpPr>
        <p:spPr>
          <a:xfrm>
            <a:off x="9186334" y="2740394"/>
            <a:ext cx="28194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Le flow exporte enfin deux fichiers CSV séparés : les vins premium et les vins ordinaires.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deux tâches indépendantes exécutées en parallèle</a:t>
            </a:r>
          </a:p>
        </p:txBody>
      </p:sp>
    </p:spTree>
    <p:extLst>
      <p:ext uri="{BB962C8B-B14F-4D97-AF65-F5344CB8AC3E}">
        <p14:creationId xmlns:p14="http://schemas.microsoft.com/office/powerpoint/2010/main" val="35865339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A461C0-5A93-6ECB-AAE3-E47E29BBB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Démonstration </a:t>
            </a:r>
            <a:r>
              <a:rPr lang="fr-FR" dirty="0" err="1"/>
              <a:t>Kestra</a:t>
            </a:r>
            <a:endParaRPr lang="fr-FR" dirty="0"/>
          </a:p>
        </p:txBody>
      </p:sp>
      <p:pic>
        <p:nvPicPr>
          <p:cNvPr id="6" name="Espace réservé du contenu 5">
            <a:hlinkClick r:id="rId2"/>
            <a:extLst>
              <a:ext uri="{FF2B5EF4-FFF2-40B4-BE49-F238E27FC236}">
                <a16:creationId xmlns:a16="http://schemas.microsoft.com/office/drawing/2014/main" id="{53C7123F-579D-11FE-C3D5-DEFC7C1D30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3128" y="2341563"/>
            <a:ext cx="6805743" cy="3633787"/>
          </a:xfrm>
        </p:spPr>
      </p:pic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497F1F-7CE9-5301-CBED-59FA0A872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699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7FC931-858E-2DB7-4048-52FB41ACE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CEC98BE-FCE2-445F-8146-3A7F8CC3881D}" type="datetime1">
              <a:rPr lang="fr-FR" smtClean="0"/>
              <a:t>03/10/2026</a:t>
            </a:fld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474F2F-61F5-F692-ADEB-B18AD9569016}"/>
              </a:ext>
            </a:extLst>
          </p:cNvPr>
          <p:cNvSpPr txBox="1"/>
          <p:nvPr/>
        </p:nvSpPr>
        <p:spPr>
          <a:xfrm>
            <a:off x="4978400" y="3190240"/>
            <a:ext cx="32918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46472654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649</Words>
  <Application>Microsoft Office PowerPoint</Application>
  <PresentationFormat>Grand écran</PresentationFormat>
  <Paragraphs>83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Arial</vt:lpstr>
      <vt:lpstr>Calibri</vt:lpstr>
      <vt:lpstr>Franklin Gothic Book</vt:lpstr>
      <vt:lpstr>Franklin Gothic Demi</vt:lpstr>
      <vt:lpstr>Wingdings 2</vt:lpstr>
      <vt:lpstr>DividendVTI</vt:lpstr>
      <vt:lpstr>Mettre en place un pipeline d’orchestration des flux</vt:lpstr>
      <vt:lpstr>Sommaire</vt:lpstr>
      <vt:lpstr>1 - Contexte et objectif </vt:lpstr>
      <vt:lpstr>2. Logigramme </vt:lpstr>
      <vt:lpstr>2. Logigramme </vt:lpstr>
      <vt:lpstr>2. Logigramme </vt:lpstr>
      <vt:lpstr>2. Logigramme </vt:lpstr>
      <vt:lpstr>3. TOPOLOGIE Kestra </vt:lpstr>
      <vt:lpstr>3. TOPOLOGIE Kestra </vt:lpstr>
      <vt:lpstr>3. TOPOLOGIE Kestra </vt:lpstr>
      <vt:lpstr>3. TOPOLOGIE Kestra </vt:lpstr>
      <vt:lpstr>3. TOPOLOGIE Kestra </vt:lpstr>
      <vt:lpstr>3. TOPOLOGIE Kestra </vt:lpstr>
      <vt:lpstr>3. TOPOLOGIE Kestra </vt:lpstr>
      <vt:lpstr>4. Démonstration Kestra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457</cp:revision>
  <dcterms:created xsi:type="dcterms:W3CDTF">2026-04-28T09:18:39Z</dcterms:created>
  <dcterms:modified xsi:type="dcterms:W3CDTF">2026-10-03T12:17:11Z</dcterms:modified>
</cp:coreProperties>
</file>